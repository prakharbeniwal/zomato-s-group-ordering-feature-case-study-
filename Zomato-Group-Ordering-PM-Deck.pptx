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c42.com/buzz/zomato-rolls-out-new-feature-for-users-to-place-orders-in-groups/" TargetMode="External"/><Relationship Id="rId3" Type="http://schemas.openxmlformats.org/officeDocument/2006/relationships/hyperlink" Target="https://www.medianama.com/2025/07/223-eternal-fy25-annual-report-highlights-zomato-blinkit/" TargetMode="External"/><Relationship Id="rId4" Type="http://schemas.openxmlformats.org/officeDocument/2006/relationships/hyperlink" Target="https://indianstartupnews.com/news/deepinder-goyal-led-zomato-launches-group-ordering-feature-6866846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swiggy.com/life-at-swiggy/heres-how-swiggy-built-the-group-ordering-feature/" TargetMode="External"/><Relationship Id="rId3" Type="http://schemas.openxmlformats.org/officeDocument/2006/relationships/hyperlink" Target="https://www.freepressjournal.in/business/no-more-passing-the-phone-zomato-boss-deepinder-goyal-announces-new-group-ordering-feature" TargetMode="External"/><Relationship Id="rId4" Type="http://schemas.openxmlformats.org/officeDocument/2006/relationships/hyperlink" Target="https://inc42.com/buzz/zomato-rolls-out-new-feature-for-users-to-place-orders-in-groups/" TargetMode="External"/><Relationship Id="rId5" Type="http://schemas.openxmlformats.org/officeDocument/2006/relationships/hyperlink" Target="https://www.medianama.com/2025/07/223-eternal-fy25-annual-report-highlights-zomato-blinkit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reepressjournal.in/business/no-more-passing-the-phone-zomato-boss-deepinder-goyal-announces-new-group-ordering-feature" TargetMode="External"/><Relationship Id="rId3" Type="http://schemas.openxmlformats.org/officeDocument/2006/relationships/hyperlink" Target="https://www.pendo.io/resources/the-2019-feature-adoption-report/" TargetMode="External"/><Relationship Id="rId4" Type="http://schemas.openxmlformats.org/officeDocument/2006/relationships/hyperlink" Target="https://inc42.com/buzz/zomato-rolls-out-new-feature-for-users-to-place-orders-in-groups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swiggy.com/life-at-swiggy/heres-how-swiggy-built-the-group-ordering-feature/" TargetMode="External"/><Relationship Id="rId3" Type="http://schemas.openxmlformats.org/officeDocument/2006/relationships/hyperlink" Target="https://inc42.com/buzz/zomato-rolls-out-new-feature-for-users-to-place-orders-in-groups/" TargetMode="External"/><Relationship Id="rId4" Type="http://schemas.openxmlformats.org/officeDocument/2006/relationships/hyperlink" Target="https://www.freepressjournal.in/business/no-more-passing-the-phone-zomato-boss-deepinder-goyal-announces-new-group-ordering-featur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c42.com/buzz/zomato-rolls-out-new-feature-for-users-to-place-orders-in-groups/" TargetMode="External"/><Relationship Id="rId3" Type="http://schemas.openxmlformats.org/officeDocument/2006/relationships/hyperlink" Target="https://www.freepressjournal.in/business/no-more-passing-the-phone-zomato-boss-deepinder-goyal-announces-new-group-ordering-feature" TargetMode="External"/><Relationship Id="rId4" Type="http://schemas.openxmlformats.org/officeDocument/2006/relationships/hyperlink" Target="https://www.medianama.com/2025/07/223-eternal-fy25-annual-report-highlights-zomato-blinkit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c42.com/buzz/zomato-rolls-out-new-feature-for-users-to-place-orders-in-groups/" TargetMode="External"/><Relationship Id="rId3" Type="http://schemas.openxmlformats.org/officeDocument/2006/relationships/hyperlink" Target="https://www.freepressjournal.in/business/no-more-passing-the-phone-zomato-boss-deepinder-goyal-announces-new-group-ordering-feature" TargetMode="External"/><Relationship Id="rId4" Type="http://schemas.openxmlformats.org/officeDocument/2006/relationships/hyperlink" Target="https://www.medianama.com/2025/07/223-eternal-fy25-annual-report-highlights-zomato-blinkit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rab.com/inside-grab/stories/grabfood-delivery-group-order/" TargetMode="External"/><Relationship Id="rId3" Type="http://schemas.openxmlformats.org/officeDocument/2006/relationships/hyperlink" Target="https://techcrunch.com/2023/09/26/spotify-launches-jam-a-real-time-collaborative-playlist-controlled-by-up-to-32-people/" TargetMode="External"/><Relationship Id="rId4" Type="http://schemas.openxmlformats.org/officeDocument/2006/relationships/hyperlink" Target="https://help.doordash.com/work/s/article/Guide-to-Group-Orders" TargetMode="External"/><Relationship Id="rId5" Type="http://schemas.openxmlformats.org/officeDocument/2006/relationships/hyperlink" Target="https://restofworld.org/2024/meituan-batch-delivery-cost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chcrunch.com/2023/09/26/spotify-launches-jam-a-real-time-collaborative-playlist-controlled-by-up-to-32-people/" TargetMode="External"/><Relationship Id="rId3" Type="http://schemas.openxmlformats.org/officeDocument/2006/relationships/hyperlink" Target="https://www.grab.com/inside-grab/stories/grabfood-delivery-group-order/" TargetMode="External"/><Relationship Id="rId4" Type="http://schemas.openxmlformats.org/officeDocument/2006/relationships/hyperlink" Target="https://blog.swiggy.com/life-at-swiggy/heres-how-swiggy-built-the-group-ordering-feature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dianama.com/2025/07/223-eternal-fy25-annual-report-highlights-zomato-blinkit/" TargetMode="External"/><Relationship Id="rId3" Type="http://schemas.openxmlformats.org/officeDocument/2006/relationships/hyperlink" Target="https://inc42.com/buzz/zomato-rolls-out-new-feature-for-users-to-place-orders-in-groups/" TargetMode="External"/><Relationship Id="rId4" Type="http://schemas.openxmlformats.org/officeDocument/2006/relationships/hyperlink" Target="https://techcrunch.com/2023/09/26/spotify-launches-jam-a-real-time-collaborative-playlist-controlled-by-up-to-32-people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echcrunch.com/2023/09/26/spotify-launches-jam-a-real-time-collaborative-playlist-controlled-by-up-to-32-people/" TargetMode="External"/><Relationship Id="rId3" Type="http://schemas.openxmlformats.org/officeDocument/2006/relationships/hyperlink" Target="https://www.grab.com/inside-grab/stories/grabfood-delivery-group-order/" TargetMode="External"/><Relationship Id="rId4" Type="http://schemas.openxmlformats.org/officeDocument/2006/relationships/hyperlink" Target="https://help.doordash.com/work/s/article/Guide-to-Group-Order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rab.com/inside-grab/stories/grabfood-delivery-group-order/" TargetMode="External"/><Relationship Id="rId3" Type="http://schemas.openxmlformats.org/officeDocument/2006/relationships/hyperlink" Target="https://help.uber.com/en/ubereats/restaurants/article/how-to-place-a-group-order-" TargetMode="External"/><Relationship Id="rId4" Type="http://schemas.openxmlformats.org/officeDocument/2006/relationships/hyperlink" Target="https://help.doordash.com/work/s/article/Guide-to-Group-Order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elp.uber.com/en/ubereats/restaurants/article/how-to-place-a-group-order-" TargetMode="External"/><Relationship Id="rId3" Type="http://schemas.openxmlformats.org/officeDocument/2006/relationships/hyperlink" Target="https://help.doordash.com/work/s/article/Guide-to-Group-Orders" TargetMode="External"/><Relationship Id="rId4" Type="http://schemas.openxmlformats.org/officeDocument/2006/relationships/hyperlink" Target="https://techcrunch.com/2023/09/26/spotify-launches-jam-a-real-time-collaborative-playlist-controlled-by-up-to-32-people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dianama.com/2025/07/223-eternal-fy25-annual-report-highlights-zomato-blinkit/" TargetMode="External"/><Relationship Id="rId3" Type="http://schemas.openxmlformats.org/officeDocument/2006/relationships/hyperlink" Target="https://b.zmtcdn.com/investor-relations/d9c290cd23764a09789769c39682276a_1746094084.pdf" TargetMode="External"/><Relationship Id="rId4" Type="http://schemas.openxmlformats.org/officeDocument/2006/relationships/hyperlink" Target="https://www.pendo.io/resources/the-2019-feature-adoption-report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dianama.com/2025/07/223-eternal-fy25-annual-report-highlights-zomato-blinkit/" TargetMode="External"/><Relationship Id="rId3" Type="http://schemas.openxmlformats.org/officeDocument/2006/relationships/hyperlink" Target="https://www.pendo.io/resources/the-2019-feature-adoption-report/" TargetMode="External"/><Relationship Id="rId4" Type="http://schemas.openxmlformats.org/officeDocument/2006/relationships/hyperlink" Target="https://inc42.com/buzz/zomato-rolls-out-new-feature-for-users-to-place-orders-in-groups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32688"/>
            <a:ext cx="566928" cy="6400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110">
                <a:solidFill>
                  <a:srgbClr val="5B6577"/>
                </a:solidFill>
                <a:latin typeface="Inter"/>
              </a:rPr>
              <a:t>ZOMATO  ·  PRODUCT TEARDOWN &amp; PRODUCT DESIGN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078992"/>
            <a:ext cx="11155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161B26"/>
                </a:solidFill>
                <a:latin typeface="Archivo"/>
              </a:rPr>
              <a:t>Group </a:t>
            </a:r>
            <a:r>
              <a:rPr sz="5000" b="1" i="0">
                <a:solidFill>
                  <a:srgbClr val="E23744"/>
                </a:solidFill>
                <a:latin typeface="Archivo"/>
              </a:rPr>
              <a:t>Ordering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161B26"/>
                </a:solidFill>
                <a:latin typeface="Archivo"/>
              </a:rPr>
              <a:t>re-architected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9923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5B6577"/>
                </a:solidFill>
                <a:latin typeface="Inter"/>
              </a:rPr>
              <a:t>Both Swiggy and Zomato shipped the cart. Neither shipped the </a:t>
            </a:r>
            <a:r>
              <a:rPr sz="1800" b="1" i="0">
                <a:solidFill>
                  <a:srgbClr val="161B26"/>
                </a:solidFill>
                <a:latin typeface="Inter"/>
              </a:rPr>
              <a:t>coordination</a:t>
            </a:r>
            <a:r>
              <a:rPr sz="1800" b="0" i="0">
                <a:solidFill>
                  <a:srgbClr val="5B6577"/>
                </a:solidFill>
                <a:latin typeface="Inter"/>
              </a:rPr>
              <a:t> — so the group went back to WhatsApp. Here's the feature that makes it stick.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2587752" cy="107899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279392"/>
            <a:ext cx="220370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E23744"/>
                </a:solidFill>
                <a:latin typeface="Archivo"/>
              </a:rPr>
              <a:t>3.7×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577"/>
                </a:solidFill>
                <a:latin typeface="Inter"/>
              </a:rPr>
              <a:t>Group-order AOV vs solo · Swiggy launch weekend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4114800"/>
            <a:ext cx="2587752" cy="107899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4279392"/>
            <a:ext cx="220370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B202D"/>
                </a:solidFill>
                <a:latin typeface="Archivo"/>
              </a:rPr>
              <a:t>6%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577"/>
                </a:solidFill>
                <a:latin typeface="Inter"/>
              </a:rPr>
              <a:t>of all Swiggy orders, first weekend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114800"/>
            <a:ext cx="2587752" cy="107899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279392"/>
            <a:ext cx="220370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2563A8"/>
                </a:solidFill>
                <a:latin typeface="Archivo"/>
              </a:rPr>
              <a:t>₹453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577"/>
                </a:solidFill>
                <a:latin typeface="Inter"/>
              </a:rPr>
              <a:t>Zomato solo AOV · FY25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4114800"/>
            <a:ext cx="2587752" cy="1078992"/>
          </a:xfrm>
          <a:prstGeom prst="roundRect">
            <a:avLst>
              <a:gd name="adj" fmla="val 7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4" y="4279392"/>
            <a:ext cx="2203704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6D4AA8"/>
                </a:solidFill>
                <a:latin typeface="Archivo"/>
              </a:rPr>
              <a:t>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577"/>
                </a:solidFill>
                <a:latin typeface="Inter"/>
              </a:rPr>
              <a:t>platforms that solved split-pay fairness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41264"/>
            <a:ext cx="10908792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5B6577"/>
                </a:solidFill>
                <a:latin typeface="Inter"/>
              </a:rPr>
              <a:t>by </a:t>
            </a:r>
            <a:r>
              <a:rPr sz="1350" b="1" i="0">
                <a:solidFill>
                  <a:srgbClr val="161B26"/>
                </a:solidFill>
                <a:latin typeface="Inter"/>
              </a:rPr>
              <a:t>Prakhar Beniwal</a:t>
            </a:r>
            <a:r>
              <a:rPr sz="1350" b="0" i="0">
                <a:solidFill>
                  <a:srgbClr val="5B6577"/>
                </a:solidFill>
                <a:latin typeface="Inter"/>
              </a:rPr>
              <a:t>  ·  Aspiring Product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AA2B0"/>
                </a:solidFill>
                <a:latin typeface="Inter"/>
              </a:rPr>
              <a:t>Portfolio case study — competitor figures are self-reported launch-window or single-sourced where noted; financials are directional models tagged throughout.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MediaNama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Indian Startup 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THE LAUNCH · AUGUST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1B26"/>
                </a:solidFill>
                <a:latin typeface="Archivo"/>
              </a:rPr>
              <a:t>Two giants, </a:t>
            </a:r>
            <a:r>
              <a:rPr sz="2700" b="1" i="0">
                <a:solidFill>
                  <a:srgbClr val="E23744"/>
                </a:solidFill>
                <a:latin typeface="Archivo"/>
              </a:rPr>
              <a:t>the same idea</a:t>
            </a:r>
            <a:r>
              <a:rPr sz="2700" b="1" i="0">
                <a:solidFill>
                  <a:srgbClr val="161B26"/>
                </a:solidFill>
                <a:latin typeface="Archivo"/>
              </a:rPr>
              <a:t>, the same month — </a:t>
            </a:r>
            <a:r>
              <a:rPr sz="2700" b="1" i="0">
                <a:solidFill>
                  <a:srgbClr val="CB202D"/>
                </a:solidFill>
                <a:latin typeface="Archivo"/>
              </a:rPr>
              <a:t>and the same blind 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577"/>
                </a:solidFill>
                <a:latin typeface="Inter"/>
              </a:rPr>
              <a:t>Group ordering wasn't a moonshot — it was a fast-follow race, shipped in weeks off a thin idea. To see what was missing, first read exactly what shipped, and why both rushed.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65376"/>
            <a:ext cx="10908792" cy="20116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755648"/>
            <a:ext cx="2542032" cy="1298448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" y="1865376"/>
            <a:ext cx="1417320" cy="274320"/>
          </a:xfrm>
          <a:prstGeom prst="roundRect">
            <a:avLst>
              <a:gd name="adj" fmla="val 45000"/>
            </a:avLst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6537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DEC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212848"/>
            <a:ext cx="2267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A hackathon castoff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5B6577"/>
                </a:solidFill>
                <a:latin typeface="Inter"/>
              </a:rPr>
              <a:t>A 2-day prototype — by an engineer who didn't even win — is picked up by Swiggy's PM team. The bet was cheap, not visionary.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755648"/>
            <a:ext cx="2542032" cy="129844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7016" y="1865376"/>
            <a:ext cx="1417320" cy="274320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7016" y="186537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MID-AUG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212848"/>
            <a:ext cx="2267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63A8"/>
                </a:solidFill>
                <a:latin typeface="Archivo"/>
              </a:rPr>
              <a:t>Swiggy ships first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5B6577"/>
                </a:solidFill>
                <a:latin typeface="Inter"/>
              </a:rPr>
              <a:t>QR-first, built for the “party pain point.” One shared cart, host pays; engineered so non-users can join with no app.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55648"/>
            <a:ext cx="2542032" cy="129844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45936" y="1865376"/>
            <a:ext cx="1417320" cy="274320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86537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AUG 17,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212848"/>
            <a:ext cx="2267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B202D"/>
                </a:solidFill>
                <a:latin typeface="Archivo"/>
              </a:rPr>
              <a:t>Zomato clones it in days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5B6577"/>
                </a:solidFill>
                <a:latin typeface="Inter"/>
              </a:rPr>
              <a:t>Goyal on X: “No more passing the phone around.” A near-identical link-share build, rolled out gradually.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39" y="1755648"/>
            <a:ext cx="2542032" cy="1298448"/>
          </a:xfrm>
          <a:prstGeom prst="roundRect">
            <a:avLst>
              <a:gd name="adj" fmla="val 6000"/>
            </a:avLst>
          </a:prstGeom>
          <a:solidFill>
            <a:srgbClr val="FCEDEC"/>
          </a:solidFill>
          <a:ln w="12700">
            <a:solidFill>
              <a:srgbClr val="F3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34855" y="1865376"/>
            <a:ext cx="1417320" cy="274320"/>
          </a:xfrm>
          <a:prstGeom prst="roundRect">
            <a:avLst>
              <a:gd name="adj" fmla="val 45000"/>
            </a:avLst>
          </a:prstGeom>
          <a:solidFill>
            <a:srgbClr val="C83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5" y="1865376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THAT DAY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2212848"/>
            <a:ext cx="2267712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8362F"/>
                </a:solidFill>
                <a:latin typeface="Archivo"/>
              </a:rPr>
              <a:t>The promise it broke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5B6577"/>
                </a:solidFill>
                <a:latin typeface="Inter"/>
              </a:rPr>
              <a:t>Asked about splitting the bill, Goyal says “coming soon.” ~22 months later, still no native split-pay.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00400"/>
            <a:ext cx="6537960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3310128"/>
            <a:ext cx="6217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30">
                <a:solidFill>
                  <a:srgbClr val="E23744"/>
                </a:solidFill>
                <a:latin typeface="Inter"/>
              </a:rPr>
              <a:t>WHAT BOTH SHIPPED — AND WHERE IT CRACKS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3547872"/>
            <a:ext cx="6135624" cy="18288"/>
          </a:xfrm>
          <a:prstGeom prst="rect">
            <a:avLst/>
          </a:prstGeom>
          <a:solidFill>
            <a:srgbClr val="F6C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" y="36576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" y="3657600"/>
            <a:ext cx="115214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Pick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restaurant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365760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28646" y="36576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38374" y="3657600"/>
            <a:ext cx="115214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63A8"/>
                </a:solidFill>
                <a:latin typeface="Archivo"/>
              </a:rPr>
              <a:t>Share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link / QR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1958" y="365760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16044" y="36576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25772" y="3657600"/>
            <a:ext cx="115214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B202D"/>
                </a:solidFill>
                <a:latin typeface="Archivo"/>
              </a:rPr>
              <a:t>Guests add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to one cart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9356" y="3657600"/>
            <a:ext cx="24688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03443" y="365760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FCEDEC"/>
          </a:solidFill>
          <a:ln w="12700">
            <a:solidFill>
              <a:srgbClr val="F3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3171" y="3657600"/>
            <a:ext cx="115214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8362F"/>
                </a:solidFill>
                <a:latin typeface="Archivo"/>
              </a:rPr>
              <a:t>Host pays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for everyone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443984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61B26"/>
                </a:solidFill>
                <a:latin typeface="Inter"/>
              </a:rPr>
              <a:t>Mechanically identical: </a:t>
            </a:r>
            <a:r>
              <a:rPr sz="1000" b="0" i="0">
                <a:solidFill>
                  <a:srgbClr val="5B6577"/>
                </a:solidFill>
                <a:latin typeface="Inter"/>
              </a:rPr>
              <a:t>host picks a restaurant, shares a link or QR, guests pile into one cart, host checks out for the table.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4718304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B202D"/>
                </a:solidFill>
                <a:latin typeface="Inter"/>
              </a:rPr>
              <a:t>Three cracks, baked in day one:  </a:t>
            </a:r>
            <a:r>
              <a:rPr sz="1000" b="0" i="0">
                <a:solidFill>
                  <a:srgbClr val="5B6577"/>
                </a:solidFill>
                <a:latin typeface="Inter"/>
              </a:rPr>
              <a:t>one address · one payer (host silently eats every fee + tip) · zero presence — you can't see who added what.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3200400"/>
            <a:ext cx="4233672" cy="1865376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16368" y="331012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20">
                <a:solidFill>
                  <a:srgbClr val="CB202D"/>
                </a:solidFill>
                <a:latin typeface="Inter"/>
              </a:rPr>
              <a:t>THE STRATEGIC READ · WHY THE RUSH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16368" y="3547872"/>
            <a:ext cx="3831336" cy="18288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16368" y="3657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B202D"/>
                </a:solidFill>
                <a:latin typeface="Archivo"/>
              </a:rPr>
              <a:t>›  The AOV lever, not love of groups — </a:t>
            </a:r>
            <a:r>
              <a:rPr sz="869" b="0" i="0">
                <a:solidFill>
                  <a:srgbClr val="5B6577"/>
                </a:solidFill>
                <a:latin typeface="Inter"/>
              </a:rPr>
              <a:t>more mouths = a bigger basket; the 3.7× proved the math overnight. A margin play.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6368" y="400964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B202D"/>
                </a:solidFill>
                <a:latin typeface="Archivo"/>
              </a:rPr>
              <a:t>›  Cheap to ship — </a:t>
            </a:r>
            <a:r>
              <a:rPr sz="869" b="0" i="0">
                <a:solidFill>
                  <a:srgbClr val="5B6577"/>
                </a:solidFill>
                <a:latin typeface="Inter"/>
              </a:rPr>
              <a:t>checkout was already solved — group ordering is a thin coordination wrapper. Fast follow.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16368" y="43616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B202D"/>
                </a:solidFill>
                <a:latin typeface="Archivo"/>
              </a:rPr>
              <a:t>›  A parity race, not a moat — </a:t>
            </a:r>
            <a:r>
              <a:rPr sz="869" b="0" i="0">
                <a:solidFill>
                  <a:srgbClr val="5B6577"/>
                </a:solidFill>
                <a:latin typeface="Inter"/>
              </a:rPr>
              <a:t>both cloned one mechanic in weeks; whoever cracks coordination + fairness actually wins.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8" y="4713731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CB202D"/>
                </a:solidFill>
                <a:latin typeface="Archivo"/>
              </a:rPr>
              <a:t>›  Built for the launch tweet — </a:t>
            </a:r>
            <a:r>
              <a:rPr sz="869" b="0" i="0">
                <a:solidFill>
                  <a:srgbClr val="5B6577"/>
                </a:solidFill>
                <a:latin typeface="Inter"/>
              </a:rPr>
              <a:t>single address, host-pays-all, split “coming soon” — the hard retention work was deferred.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138928"/>
            <a:ext cx="10908792" cy="658368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" y="5138928"/>
            <a:ext cx="1554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">
                <a:solidFill>
                  <a:srgbClr val="E23744"/>
                </a:solidFill>
                <a:latin typeface="Inter"/>
              </a:rPr>
              <a:t>PROOF THE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">
                <a:solidFill>
                  <a:srgbClr val="E23744"/>
                </a:solidFill>
                <a:latin typeface="Inter"/>
              </a:rPr>
              <a:t>DEMAND IS REAL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432304" y="5230368"/>
            <a:ext cx="212140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5248656"/>
            <a:ext cx="1901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B202D"/>
                </a:solidFill>
                <a:latin typeface="Archivo"/>
              </a:rPr>
              <a:t>3.7×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B6577"/>
                </a:solidFill>
                <a:latin typeface="Inter"/>
              </a:rPr>
              <a:t>group AOV vs solo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81728" y="5230368"/>
            <a:ext cx="212140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09744" y="5248656"/>
            <a:ext cx="1901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B202D"/>
                </a:solidFill>
                <a:latin typeface="Archivo"/>
              </a:rPr>
              <a:t>6%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B6577"/>
                </a:solidFill>
                <a:latin typeface="Inter"/>
              </a:rPr>
              <a:t>of launch-wknd orders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31152" y="5230368"/>
            <a:ext cx="212140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9168" y="5248656"/>
            <a:ext cx="1901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B202D"/>
                </a:solidFill>
                <a:latin typeface="Archivo"/>
              </a:rPr>
              <a:t>17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B6577"/>
                </a:solidFill>
                <a:latin typeface="Inter"/>
              </a:rPr>
              <a:t>real max in one cart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80576" y="5230368"/>
            <a:ext cx="212140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08592" y="5248656"/>
            <a:ext cx="1901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B202D"/>
                </a:solidFill>
                <a:latin typeface="Archivo"/>
              </a:rPr>
              <a:t>72 items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B6577"/>
                </a:solidFill>
                <a:latin typeface="Inter"/>
              </a:rPr>
              <a:t>one ₹14,000 order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870448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870448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Demand was never the question. Coordination was —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the spike proved the want; the silence after proved the gap.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Swiggy Engineering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Free Press Journal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5"/>
              </a:rPr>
              <a:t>MediaNama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THE FADE · WHERE IT LEAKS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161B26"/>
                </a:solidFill>
                <a:latin typeface="Archivo"/>
              </a:rPr>
              <a:t>A launch spike — </a:t>
            </a:r>
            <a:r>
              <a:rPr sz="2700" b="1" i="0">
                <a:solidFill>
                  <a:srgbClr val="E23744"/>
                </a:solidFill>
                <a:latin typeface="Archivo"/>
              </a:rPr>
              <a:t>leaking where it matters most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B6577"/>
                </a:solidFill>
                <a:latin typeface="Inter"/>
              </a:rPr>
              <a:t>The demand is real and proven. The feature still bleeds — and not where you'd think. Walk the funnel: it holds at activation, and breaks at discovery and coordination.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48256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1892808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928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BROAD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31136"/>
            <a:ext cx="21214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563A8"/>
                </a:solidFill>
                <a:latin typeface="Archivo"/>
              </a:rPr>
              <a:t>AWARENESS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could group-order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048256"/>
            <a:ext cx="466344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3864" y="2048256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86784" y="1892808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6784" y="18928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LEAK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231136"/>
            <a:ext cx="21214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23744"/>
                </a:solidFill>
                <a:latin typeface="Archivo"/>
              </a:rPr>
              <a:t>DISCOVERY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find the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1304" y="2048256"/>
            <a:ext cx="466344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23744"/>
                </a:solidFill>
                <a:latin typeface="Archivo"/>
              </a:rPr>
              <a:t>↓ LEAK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2048256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30568" y="1892808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18928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HEALTHY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231136"/>
            <a:ext cx="21214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7A4A"/>
                </a:solidFill>
                <a:latin typeface="Archivo"/>
              </a:rPr>
              <a:t>ACTIVATION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works when surfaced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048256"/>
            <a:ext cx="466344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A4A"/>
                </a:solidFill>
                <a:latin typeface="Archivo"/>
              </a:rPr>
              <a:t>✓ this works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1432" y="2048256"/>
            <a:ext cx="2377440" cy="1024128"/>
          </a:xfrm>
          <a:prstGeom prst="roundRect">
            <a:avLst>
              <a:gd name="adj" fmla="val 6000"/>
            </a:avLst>
          </a:prstGeom>
          <a:solidFill>
            <a:srgbClr val="FCEDEC"/>
          </a:solidFill>
          <a:ln w="12700">
            <a:solidFill>
              <a:srgbClr val="F3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74352" y="1892808"/>
            <a:ext cx="1371600" cy="292608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189280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THE LEAK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2231136"/>
            <a:ext cx="21214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B202D"/>
                </a:solidFill>
                <a:latin typeface="Archivo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come back &amp; repeat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B202D"/>
                </a:solidFill>
                <a:latin typeface="Archivo"/>
              </a:rPr>
              <a:t>↓↓ THE BIG LEAK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419856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A7A4A"/>
                </a:solidFill>
                <a:latin typeface="Inter"/>
              </a:rPr>
              <a:t>Activation is fine — the want is proven. </a:t>
            </a:r>
            <a:r>
              <a:rPr sz="1100" b="0" i="0">
                <a:solidFill>
                  <a:srgbClr val="5B6577"/>
                </a:solidFill>
                <a:latin typeface="Inter"/>
              </a:rPr>
              <a:t>The money bleeds at the two </a:t>
            </a:r>
            <a:r>
              <a:rPr sz="1100" b="1" i="0">
                <a:solidFill>
                  <a:srgbClr val="CB202D"/>
                </a:solidFill>
                <a:latin typeface="Inter"/>
              </a:rPr>
              <a:t>ends</a:t>
            </a:r>
            <a:r>
              <a:rPr sz="1100" b="0" i="0">
                <a:solidFill>
                  <a:srgbClr val="5B6577"/>
                </a:solidFill>
                <a:latin typeface="Inter"/>
              </a:rPr>
              <a:t>: nobody finds it (discovery), and nobody returns (coordination).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840480"/>
            <a:ext cx="10908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40">
                <a:solidFill>
                  <a:srgbClr val="E23744"/>
                </a:solidFill>
                <a:latin typeface="Inter"/>
              </a:rPr>
              <a:t>WHY THE SPIKE NEVER BECAME A HABIT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078224"/>
            <a:ext cx="10908792" cy="18288"/>
          </a:xfrm>
          <a:prstGeom prst="rect">
            <a:avLst/>
          </a:prstGeom>
          <a:solidFill>
            <a:srgbClr val="F6C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4187952"/>
            <a:ext cx="3511296" cy="1170432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315968"/>
            <a:ext cx="314553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CB202D"/>
                </a:solidFill>
                <a:latin typeface="Archivo"/>
              </a:rPr>
              <a:t>0 in 22 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native split-pay shipped — promised at launch, never delivered. The hard part was skipped.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8828" y="4187952"/>
            <a:ext cx="3511296" cy="1170432"/>
          </a:xfrm>
          <a:prstGeom prst="roundRect">
            <a:avLst>
              <a:gd name="adj" fmla="val 6000"/>
            </a:avLst>
          </a:prstGeom>
          <a:solidFill>
            <a:srgbClr val="F8F1E0"/>
          </a:solidFill>
          <a:ln w="12700">
            <a:solidFill>
              <a:srgbClr val="E7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1708" y="4315968"/>
            <a:ext cx="314553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C98A12"/>
                </a:solidFill>
                <a:latin typeface="Archivo"/>
              </a:rPr>
              <a:t>~80%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of software features go rarely or never used (Pendo). A buried feature is a dead feature.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37575" y="4187952"/>
            <a:ext cx="3511296" cy="1170432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5" y="4315968"/>
            <a:ext cx="314553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2563A8"/>
                </a:solidFill>
                <a:latin typeface="Archivo"/>
              </a:rPr>
              <a:t>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577"/>
                </a:solidFill>
                <a:latin typeface="Inter"/>
              </a:rPr>
              <a:t>steady-state group numbers ever reported — only self-reported launch-weekend PR. The silence tells.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49824"/>
            <a:ext cx="10908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1" spc="0">
                <a:solidFill>
                  <a:srgbClr val="9AA2B0"/>
                </a:solidFill>
                <a:latin typeface="Inter"/>
              </a:rPr>
              <a:t>Spike curve is directional — no platform discloses steady-state group volume; the case rests on the signals above, not a published decline.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852160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852160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A launch is not a habit. To win, Zomato has to remove the reason they leave —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the coordination cost.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Free Press Journal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Pendo Feature Adoption Report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Inc42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CB202D"/>
                </a:solidFill>
                <a:latin typeface="Inter"/>
              </a:rPr>
              <a:t>DIAGNOSIS · COORDINATION, NOT CHECKOUT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1B26"/>
                </a:solidFill>
                <a:latin typeface="Archivo"/>
              </a:rPr>
              <a:t>Zomato solved checkout. </a:t>
            </a:r>
            <a:r>
              <a:rPr sz="2600" b="1" i="0">
                <a:solidFill>
                  <a:srgbClr val="E23744"/>
                </a:solidFill>
                <a:latin typeface="Archivo"/>
              </a:rPr>
              <a:t>The real bill is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The cart was the easy 10%. The unpaid tax is everything around it — five clusters of coordination cost, each feeding the next, most of it borne before and after the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3611880" cy="841248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3291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7A4A"/>
                </a:solidFill>
                <a:latin typeface="Archivo"/>
              </a:rPr>
              <a:t>SOLVED  ✓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 i="0">
                <a:solidFill>
                  <a:srgbClr val="5B6577"/>
                </a:solidFill>
                <a:latin typeface="Inter"/>
              </a:rPr>
              <a:t>Checkout &amp; the shared cart — a thin wrapper on an already-solved 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874519"/>
            <a:ext cx="512064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64608" y="1874519"/>
            <a:ext cx="6684264" cy="841248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1874519"/>
            <a:ext cx="6355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B202D"/>
                </a:solidFill>
                <a:latin typeface="Archivo"/>
              </a:rPr>
              <a:t>UNSOLVED  ✕</a:t>
            </a:r>
            <a:r>
              <a:rPr sz="1200" b="1" i="0">
                <a:solidFill>
                  <a:srgbClr val="E23744"/>
                </a:solidFill>
                <a:latin typeface="Archivo"/>
              </a:rPr>
              <a:t>   Coordination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 i="0">
                <a:solidFill>
                  <a:srgbClr val="5B6577"/>
                </a:solidFill>
                <a:latin typeface="Inter"/>
              </a:rPr>
              <a:t>The actual job: getting a group from “let's order something” to “it's here, and everyone paid their share.”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4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20">
                <a:solidFill>
                  <a:srgbClr val="E23744"/>
                </a:solidFill>
                <a:latin typeface="Inter"/>
              </a:rPr>
              <a:t>THE COORDINATION-COST CHAIN — EACH FAILURE FEEDS THE 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13264" y="2852928"/>
            <a:ext cx="1435608" cy="310896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2852928"/>
            <a:ext cx="14356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18 FAILURE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F1ECF8"/>
          </a:solidFill>
          <a:ln w="12700">
            <a:solidFill>
              <a:srgbClr val="6D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DISCOVERY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find it at 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6D4A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Buried in the cart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6D4A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No home-screen entry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6D4A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No pre-cart consensus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6D4AA8"/>
                </a:solidFill>
                <a:latin typeface="Inter"/>
              </a:rPr>
              <a:t>COORD. COST · MED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" y="4956048"/>
            <a:ext cx="877824" cy="100584"/>
          </a:xfrm>
          <a:prstGeom prst="rect">
            <a:avLst/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3374136"/>
            <a:ext cx="28117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59786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59786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9514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COLLECTION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who's in, what they want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8658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563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Who's even joining?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563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Phone-passing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563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What does each want?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2563A8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Late joiners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8658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E23744"/>
                </a:solidFill>
                <a:latin typeface="Inter"/>
              </a:rPr>
              <a:t>COORD. COST · 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8658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78658" y="4956048"/>
            <a:ext cx="1439631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5746" y="3374136"/>
            <a:ext cx="28117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9492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E2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79492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89220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SETTLEMENT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who pays 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8364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23744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Host eats all fees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23744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Chasing ₹80s on UPI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23744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“I'll pay later” decay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E23744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No split-pay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98364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E23744"/>
                </a:solidFill>
                <a:latin typeface="Inter"/>
              </a:rPr>
              <a:t>COORD. COST · HIGHEST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98364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98364" y="4956048"/>
            <a:ext cx="1755648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5452" y="3374136"/>
            <a:ext cx="28117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99198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F8F1E0"/>
          </a:solidFill>
          <a:ln w="12700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299198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8926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TIMING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when do we fire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8070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C98A12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Waiting on stragglers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C98A12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Nagging the group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C98A12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No deadline or nudge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8070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E23744"/>
                </a:solidFill>
                <a:latin typeface="Inter"/>
              </a:rPr>
              <a:t>COORD. COST · HIGH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18070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18070" y="4956048"/>
            <a:ext cx="1439631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65158" y="3374136"/>
            <a:ext cx="28117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18904" y="3255264"/>
            <a:ext cx="1993392" cy="1993392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518904" y="3255264"/>
            <a:ext cx="1993392" cy="548640"/>
          </a:xfrm>
          <a:prstGeom prst="roundRect">
            <a:avLst>
              <a:gd name="adj" fmla="val 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28632" y="3291840"/>
            <a:ext cx="1773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FULFILMENT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Inter"/>
              </a:rPr>
              <a:t>whose food is whose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37776" y="3877056"/>
            <a:ext cx="17739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7A4A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“Whose biryani?”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7A4A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Mixed-up bags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7A4A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One address only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1A7A4A"/>
                </a:solidFill>
                <a:latin typeface="Inter"/>
              </a:rPr>
              <a:t>• </a:t>
            </a:r>
            <a:r>
              <a:rPr sz="840" b="0" i="0">
                <a:solidFill>
                  <a:srgbClr val="161B26"/>
                </a:solidFill>
                <a:latin typeface="Inter"/>
              </a:rPr>
              <a:t>Big-order packaging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37776" y="4791456"/>
            <a:ext cx="175564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1A7A4A"/>
                </a:solidFill>
                <a:latin typeface="Inter"/>
              </a:rPr>
              <a:t>COORD. COST · MED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37776" y="4956048"/>
            <a:ext cx="1755648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37776" y="4956048"/>
            <a:ext cx="965606" cy="10058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340096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577"/>
                </a:solidFill>
                <a:latin typeface="Inter"/>
              </a:rPr>
              <a:t>The heaviest costs — </a:t>
            </a:r>
            <a:r>
              <a:rPr sz="1100" b="1" i="0">
                <a:solidFill>
                  <a:srgbClr val="E23744"/>
                </a:solidFill>
                <a:latin typeface="Inter"/>
              </a:rPr>
              <a:t>settlement</a:t>
            </a:r>
            <a:r>
              <a:rPr sz="1100" b="0" i="0">
                <a:solidFill>
                  <a:srgbClr val="5B6577"/>
                </a:solidFill>
                <a:latin typeface="Inter"/>
              </a:rPr>
              <a:t> and </a:t>
            </a:r>
            <a:r>
              <a:rPr sz="1100" b="1" i="0">
                <a:solidFill>
                  <a:srgbClr val="2563A8"/>
                </a:solidFill>
                <a:latin typeface="Inter"/>
              </a:rPr>
              <a:t>collection</a:t>
            </a:r>
            <a:r>
              <a:rPr sz="1100" b="0" i="0">
                <a:solidFill>
                  <a:srgbClr val="5B6577"/>
                </a:solidFill>
                <a:latin typeface="Inter"/>
              </a:rPr>
              <a:t> — are exactly what Zomato's v1 leaves untouched. The cart fixed the cheapest link in the chain.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5852160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5852160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The coordination tax isn't evenly paid.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Meet the people who pay the most.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Swiggy Engineering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Free Press Journal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PERSONAS · THE COORDINATION 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161B26"/>
                </a:solidFill>
                <a:latin typeface="Archivo"/>
              </a:rPr>
              <a:t>11:40 PM. Five hungry flatmates. </a:t>
            </a:r>
            <a:r>
              <a:rPr sz="2400" b="1" i="0">
                <a:solidFill>
                  <a:srgbClr val="E23744"/>
                </a:solidFill>
                <a:latin typeface="Archivo"/>
              </a:rPr>
              <a:t>One very tired host.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Meet Rahul and the PG crew — the anchor user. Follow ONE late-night order to feel how heavy the coordination tax really is, even with “group ordering” switched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54480" y="2048256"/>
            <a:ext cx="640080" cy="640080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04825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779776"/>
            <a:ext cx="1554480" cy="274320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779776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ANCHOR PERSONA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145536"/>
            <a:ext cx="22128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61B26"/>
                </a:solidFill>
                <a:latin typeface="Archivo"/>
              </a:rPr>
              <a:t>Rahul &amp; the PG crew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4930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3–8 flatmates · students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price-sensitive · late-night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UPI + WhatsApp native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shared rooms — QR shines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224528"/>
            <a:ext cx="221284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 i="0" spc="30">
                <a:solidFill>
                  <a:srgbClr val="E23744"/>
                </a:solidFill>
                <a:latin typeface="Inter"/>
              </a:rPr>
              <a:t>WHY THE ANCHOR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869" b="0" i="0">
                <a:solidFill>
                  <a:srgbClr val="5B6577"/>
                </a:solidFill>
                <a:latin typeface="Inter"/>
              </a:rPr>
              <a:t>Highest pain, densest social graph, biggest viral upside.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187451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01568" y="1984248"/>
            <a:ext cx="292608" cy="29260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19842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199339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The 40-message debate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231343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20 min of “biryani or pizza?” in the chat. Half never reply.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2843784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2843784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26864" y="288950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26864" y="2889503"/>
            <a:ext cx="342900" cy="10058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1874519"/>
            <a:ext cx="1645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62472" y="187451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172200" y="1984248"/>
            <a:ext cx="292608" cy="29260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19842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199339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Pass the phone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231343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His phone circles the room; someone deletes an item by mistake.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2843784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0488" y="2843784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97496" y="288950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97496" y="2889503"/>
            <a:ext cx="514350" cy="10058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0224" y="1874519"/>
            <a:ext cx="1645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33104" y="187451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42832" y="1984248"/>
            <a:ext cx="292608" cy="292608"/>
          </a:xfrm>
          <a:prstGeom prst="ellipse">
            <a:avLst/>
          </a:prstGeom>
          <a:solidFill>
            <a:srgbClr val="C98A12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42832" y="198424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199339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Who's even in?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231343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Two are “still deciding.” The cart sits open for half an hour.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0" y="2843784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0" y="2843784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68128" y="288950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68128" y="2889503"/>
            <a:ext cx="685800" cy="100584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291840" y="333755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01568" y="3447287"/>
            <a:ext cx="292608" cy="29260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01568" y="34472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67328" y="345643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Rahul pays for all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9856" y="3776471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₹2,140 on his card — free delivery only on his Gold.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19856" y="4306823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19856" y="4306823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435254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26864" y="4352543"/>
            <a:ext cx="914400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79592" y="3337559"/>
            <a:ext cx="1645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2472" y="333755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72200" y="3447287"/>
            <a:ext cx="292608" cy="29260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72200" y="34472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345643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The ₹80 chase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0488" y="3776471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Two pay, two “tomorrow,” one ghosts. Day 4: still down ₹430.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90488" y="4306823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0488" y="4306823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97496" y="435254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97496" y="4352543"/>
            <a:ext cx="1143000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0224" y="3337559"/>
            <a:ext cx="16459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E23744"/>
                </a:solidFill>
                <a:latin typeface="Inter"/>
              </a:rPr>
              <a:t>→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33104" y="3337559"/>
            <a:ext cx="26060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42832" y="3447287"/>
            <a:ext cx="292608" cy="292608"/>
          </a:xfrm>
          <a:prstGeom prst="ellipse">
            <a:avLst/>
          </a:prstGeom>
          <a:solidFill>
            <a:srgbClr val="1A7A4A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42832" y="344728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456431"/>
            <a:ext cx="20391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61B26"/>
                </a:solidFill>
                <a:latin typeface="Archivo"/>
              </a:rPr>
              <a:t>Whose biryani?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3776471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i="0">
                <a:solidFill>
                  <a:srgbClr val="5B6577"/>
                </a:solidFill>
                <a:latin typeface="Inter"/>
              </a:rPr>
              <a:t>One bag, no labels, five identical parcels at the door.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61120" y="4306823"/>
            <a:ext cx="1078992" cy="237744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61120" y="4306823"/>
            <a:ext cx="107899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FULFILMENT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168128" y="4352543"/>
            <a:ext cx="1143000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168128" y="4352543"/>
            <a:ext cx="800100" cy="10058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" y="4773168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1248" y="484632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30">
                <a:solidFill>
                  <a:srgbClr val="E23744"/>
                </a:solidFill>
                <a:latin typeface="Inter"/>
              </a:rPr>
              <a:t>THE REAL COST OF ONE ORDER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1248" y="5102352"/>
            <a:ext cx="345643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87552" y="5138928"/>
            <a:ext cx="3200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20">
                <a:solidFill>
                  <a:srgbClr val="CB202D"/>
                </a:solidFill>
                <a:latin typeface="Inter"/>
              </a:rPr>
              <a:t>EMOTIONAL  </a:t>
            </a:r>
            <a:r>
              <a:rPr sz="860" b="0" i="0">
                <a:solidFill>
                  <a:srgbClr val="5B6577"/>
                </a:solidFill>
                <a:latin typeface="Inter"/>
              </a:rPr>
              <a:t>The host becomes the group's unpaid project manager — and burns out.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25696" y="5102352"/>
            <a:ext cx="345643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0" y="5138928"/>
            <a:ext cx="3200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20">
                <a:solidFill>
                  <a:srgbClr val="E23744"/>
                </a:solidFill>
                <a:latin typeface="Inter"/>
              </a:rPr>
              <a:t>FINANCIAL  </a:t>
            </a:r>
            <a:r>
              <a:rPr sz="860" b="0" i="0">
                <a:solidFill>
                  <a:srgbClr val="5B6577"/>
                </a:solidFill>
                <a:latin typeface="Inter"/>
              </a:rPr>
              <a:t>The host is the group's bank: ₹430 still unpaid on day 4.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010144" y="5102352"/>
            <a:ext cx="345643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56448" y="5138928"/>
            <a:ext cx="3200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20">
                <a:solidFill>
                  <a:srgbClr val="C8362F"/>
                </a:solidFill>
                <a:latin typeface="Inter"/>
              </a:rPr>
              <a:t>BEHAVIOURAL  </a:t>
            </a:r>
            <a:r>
              <a:rPr sz="860" b="0" i="0">
                <a:solidFill>
                  <a:srgbClr val="5B6577"/>
                </a:solidFill>
                <a:latin typeface="Inter"/>
              </a:rPr>
              <a:t>So he quits the feature: “just pay me, I'll order” — back to square one.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40080" y="5870448"/>
            <a:ext cx="10908792" cy="530352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8680" y="5870448"/>
            <a:ext cx="10469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And Rahul has it easy — one room, one tap away.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Now scale this to offices, families and 30-person parties.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Free Press Journal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MediaNama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PERSONAS · IT'S NOT JUST HOSTELS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1B26"/>
                </a:solidFill>
                <a:latin typeface="Archivo"/>
              </a:rPr>
              <a:t>Same tax, </a:t>
            </a:r>
            <a:r>
              <a:rPr sz="2600" b="1" i="0">
                <a:solidFill>
                  <a:srgbClr val="E23744"/>
                </a:solidFill>
                <a:latin typeface="Archivo"/>
              </a:rPr>
              <a:t>every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Six occasions, one coordination tax — and each group snaps at a different link in the chain. The pain is universal; only the breaking point moves.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38528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084832"/>
            <a:ext cx="475488" cy="47548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8483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Rahul &amp; PG crew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3–8 students · late-night · UPI-native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2084832"/>
            <a:ext cx="713232" cy="256032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84832"/>
            <a:ext cx="7132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2670048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Host is the group's unpaid bank — the ₹80s never come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" y="3209544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209544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317296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75104" y="3337560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5104" y="3337560"/>
            <a:ext cx="2029967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38828" y="1938528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85132" y="2084832"/>
            <a:ext cx="475488" cy="475488"/>
          </a:xfrm>
          <a:prstGeom prst="ellipse">
            <a:avLst/>
          </a:prstGeom>
          <a:solidFill>
            <a:srgbClr val="C98A12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5132" y="208483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0348" y="2084832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Office / WFH squad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co-located + remote · fixed lunch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3420" y="2670048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1 PM and half the team still hasn't picked — it fires late, or not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3420" y="3209544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3420" y="3209544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73852" y="317296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73852" y="3337560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73852" y="3337560"/>
            <a:ext cx="1623974" cy="100584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37575" y="1938528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83879" y="2084832"/>
            <a:ext cx="475488" cy="47548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208483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9096" y="2084832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Party host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20–30 guests · one giant cart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7" y="2670048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One person fielding 30 orders in a WhatsApp avalanche (the 72-item cart).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02167" y="3209544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7" y="3209544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17296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3337560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72600" y="3337560"/>
            <a:ext cx="1786371" cy="10058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0080" y="3739896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86384" y="3886200"/>
            <a:ext cx="475488" cy="47548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3886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Fam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3886200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Family · multi-gen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mixed app-literacy · one address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1" y="4471416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Mom dictates her order, someone re-types it; only the host has Gold.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1" y="5010912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1" y="5010912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75104" y="49743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75104" y="5138928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75104" y="5138928"/>
            <a:ext cx="1258580" cy="10058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38828" y="3739896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485132" y="3886200"/>
            <a:ext cx="475488" cy="47548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5132" y="3886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T3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0348" y="3886200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Tier-2/3 friends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intensely price-sensitive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03420" y="4471416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Every rupee counts — splitting fees by hand kills the whole vibe.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03420" y="5010912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3420" y="5010912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73852" y="49743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73852" y="5138928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73852" y="5138928"/>
            <a:ext cx="1826971" cy="10058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037575" y="3739896"/>
            <a:ext cx="3511296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83879" y="3886200"/>
            <a:ext cx="475488" cy="475488"/>
          </a:xfrm>
          <a:prstGeom prst="ellipse">
            <a:avLst/>
          </a:prstGeom>
          <a:solidFill>
            <a:srgbClr val="C98A12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83879" y="3886200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GG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69096" y="3886200"/>
            <a:ext cx="213969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B26"/>
                </a:solidFill>
                <a:latin typeface="Archivo"/>
              </a:rPr>
              <a:t>Gaming / study crew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mid-session · same room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02167" y="4471416"/>
            <a:ext cx="318211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Inter"/>
              </a:rPr>
              <a:t>Nobody wants to pause to coordinate, so the order just never happens.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02167" y="5010912"/>
            <a:ext cx="1097280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2167" y="5010912"/>
            <a:ext cx="10972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72600" y="49743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 spc="10">
                <a:solidFill>
                  <a:srgbClr val="9AA2B0"/>
                </a:solidFill>
                <a:latin typeface="Inter"/>
              </a:rPr>
              <a:t>COORD. TAX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72600" y="5138928"/>
            <a:ext cx="2029967" cy="100584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72600" y="5138928"/>
            <a:ext cx="1461576" cy="100584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40080" y="5486400"/>
            <a:ext cx="10908792" cy="292608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5486400"/>
            <a:ext cx="10908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B202D"/>
                </a:solidFill>
                <a:latin typeface="Archivo"/>
              </a:rPr>
              <a:t>6 occasions   ·   18 failure points   ·   </a:t>
            </a:r>
            <a:r>
              <a:rPr sz="1100" b="1" i="0">
                <a:solidFill>
                  <a:srgbClr val="161B26"/>
                </a:solidFill>
                <a:latin typeface="Inter"/>
              </a:rPr>
              <a:t>0 platforms that remove the tax — every group still does the hard part by hand.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" y="5870448"/>
            <a:ext cx="10908792" cy="530352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8680" y="5870448"/>
            <a:ext cx="10469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The pain is real, universal, and unsolved.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So how has the rest of the world cracked it?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Free Press Journal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MediaNama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2563A8"/>
                </a:solidFill>
                <a:latin typeface="Inter"/>
              </a:rPr>
              <a:t>HOW THE WORLD ALREADY SOLVED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1B26"/>
                </a:solidFill>
                <a:latin typeface="Archivo"/>
              </a:rPr>
              <a:t>Everyone shipped the cart. </a:t>
            </a:r>
            <a:r>
              <a:rPr sz="2600" b="1" i="0">
                <a:solidFill>
                  <a:srgbClr val="2563A8"/>
                </a:solidFill>
                <a:latin typeface="Archivo"/>
              </a:rPr>
              <a:t>Nobody shipped the coordination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Five food platforms converged on one weak mechanic — while four other industries already cracked the hard part. The blueprint isn't missing; it's just never been assembled for food.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83664"/>
            <a:ext cx="6766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20">
                <a:solidFill>
                  <a:srgbClr val="2563A8"/>
                </a:solidFill>
                <a:latin typeface="Inter"/>
              </a:rPr>
              <a:t>THE TEARDOWN · 6 PLATFORMS, ONE WEAK MECHANIC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137160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2194560"/>
            <a:ext cx="12435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 i="0" spc="10">
                <a:solidFill>
                  <a:srgbClr val="FFFFFF"/>
                </a:solidFill>
                <a:latin typeface="Inter"/>
              </a:rPr>
              <a:t>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194560"/>
            <a:ext cx="146304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4832" y="2194560"/>
            <a:ext cx="13350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 i="0" spc="10">
                <a:solidFill>
                  <a:srgbClr val="FFFFFF"/>
                </a:solidFill>
                <a:latin typeface="Inter"/>
              </a:rPr>
              <a:t>REAL-TIME COORD.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194560"/>
            <a:ext cx="155448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194560"/>
            <a:ext cx="14264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 i="0" spc="10">
                <a:solidFill>
                  <a:srgbClr val="FFFFFF"/>
                </a:solidFill>
                <a:latin typeface="Inter"/>
              </a:rPr>
              <a:t>SPLIT-PAY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194560"/>
            <a:ext cx="237744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194560"/>
            <a:ext cx="22494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 i="0" spc="10">
                <a:solidFill>
                  <a:srgbClr val="FFFFFF"/>
                </a:solidFill>
                <a:latin typeface="Inter"/>
              </a:rPr>
              <a:t>THE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51760"/>
            <a:ext cx="137160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651760"/>
            <a:ext cx="1225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Inter"/>
              </a:rPr>
              <a:t>Swiggy ’24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2651760"/>
            <a:ext cx="1463040" cy="457200"/>
          </a:xfrm>
          <a:prstGeom prst="rect">
            <a:avLst/>
          </a:prstGeom>
          <a:solidFill>
            <a:srgbClr val="FCED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2651760"/>
            <a:ext cx="1316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362F"/>
                </a:solidFill>
                <a:latin typeface="Inter"/>
              </a:rPr>
              <a:t>✕ </a:t>
            </a:r>
            <a:r>
              <a:rPr sz="760" b="0" i="0">
                <a:solidFill>
                  <a:srgbClr val="5B6577"/>
                </a:solidFill>
                <a:latin typeface="Inter"/>
              </a:rPr>
              <a:t>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651760"/>
            <a:ext cx="1554480" cy="457200"/>
          </a:xfrm>
          <a:prstGeom prst="rect">
            <a:avLst/>
          </a:prstGeom>
          <a:solidFill>
            <a:srgbClr val="FCED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65176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362F"/>
                </a:solidFill>
                <a:latin typeface="Inter"/>
              </a:rPr>
              <a:t>✕ </a:t>
            </a:r>
            <a:r>
              <a:rPr sz="760" b="0" i="0">
                <a:solidFill>
                  <a:srgbClr val="5B6577"/>
                </a:solidFill>
                <a:latin typeface="Inter"/>
              </a:rPr>
              <a:t>host pays 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65176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65176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577"/>
                </a:solidFill>
                <a:latin typeface="Inter"/>
              </a:rPr>
              <a:t>Proved demand; skipped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108960"/>
            <a:ext cx="137160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108960"/>
            <a:ext cx="1225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Inter"/>
              </a:rPr>
              <a:t>Zomato ’24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3108960"/>
            <a:ext cx="1463040" cy="457200"/>
          </a:xfrm>
          <a:prstGeom prst="rect">
            <a:avLst/>
          </a:prstGeom>
          <a:solidFill>
            <a:srgbClr val="FCED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3108960"/>
            <a:ext cx="1316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362F"/>
                </a:solidFill>
                <a:latin typeface="Inter"/>
              </a:rPr>
              <a:t>✕ </a:t>
            </a:r>
            <a:r>
              <a:rPr sz="760" b="0" i="0">
                <a:solidFill>
                  <a:srgbClr val="5B6577"/>
                </a:solidFill>
                <a:latin typeface="Inter"/>
              </a:rPr>
              <a:t>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108960"/>
            <a:ext cx="1554480" cy="457200"/>
          </a:xfrm>
          <a:prstGeom prst="rect">
            <a:avLst/>
          </a:prstGeom>
          <a:solidFill>
            <a:srgbClr val="FCED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10896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362F"/>
                </a:solidFill>
                <a:latin typeface="Inter"/>
              </a:rPr>
              <a:t>✕ </a:t>
            </a:r>
            <a:r>
              <a:rPr sz="760" b="0" i="0">
                <a:solidFill>
                  <a:srgbClr val="5B6577"/>
                </a:solidFill>
                <a:latin typeface="Inter"/>
              </a:rPr>
              <a:t>“soon”, unshipped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10896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10896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577"/>
                </a:solidFill>
                <a:latin typeface="Inter"/>
              </a:rPr>
              <a:t>At parity on the weak mechanic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566160"/>
            <a:ext cx="137160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3566160"/>
            <a:ext cx="1225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Inter"/>
              </a:rPr>
              <a:t>Uber Eats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3566160"/>
            <a:ext cx="1463040" cy="457200"/>
          </a:xfrm>
          <a:prstGeom prst="rect">
            <a:avLst/>
          </a:prstGeom>
          <a:solidFill>
            <a:srgbClr val="F8F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3566160"/>
            <a:ext cx="1316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8A12"/>
                </a:solidFill>
                <a:latin typeface="Inter"/>
              </a:rPr>
              <a:t>~ </a:t>
            </a:r>
            <a:r>
              <a:rPr sz="760" b="0" i="0">
                <a:solidFill>
                  <a:srgbClr val="5B6577"/>
                </a:solidFill>
                <a:latin typeface="Inter"/>
              </a:rPr>
              <a:t>limits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3566160"/>
            <a:ext cx="1554480" cy="457200"/>
          </a:xfrm>
          <a:prstGeom prst="rect">
            <a:avLst/>
          </a:prstGeom>
          <a:solidFill>
            <a:srgbClr val="F8F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356616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8A12"/>
                </a:solidFill>
                <a:latin typeface="Inter"/>
              </a:rPr>
              <a:t>~ </a:t>
            </a:r>
            <a:r>
              <a:rPr sz="760" b="0" i="0">
                <a:solidFill>
                  <a:srgbClr val="5B6577"/>
                </a:solidFill>
                <a:latin typeface="Inter"/>
              </a:rPr>
              <a:t>host eats fees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56616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56616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577"/>
                </a:solidFill>
                <a:latin typeface="Inter"/>
              </a:rPr>
              <a:t>Controls, not coordination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023360"/>
            <a:ext cx="137160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" y="4023360"/>
            <a:ext cx="1225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Inter"/>
              </a:rPr>
              <a:t>DoorDash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4023360"/>
            <a:ext cx="1463040" cy="457200"/>
          </a:xfrm>
          <a:prstGeom prst="rect">
            <a:avLst/>
          </a:prstGeom>
          <a:solidFill>
            <a:srgbClr val="F8F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03120" y="4023360"/>
            <a:ext cx="1316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8A12"/>
                </a:solidFill>
                <a:latin typeface="Inter"/>
              </a:rPr>
              <a:t>~ </a:t>
            </a:r>
            <a:r>
              <a:rPr sz="760" b="0" i="0">
                <a:solidFill>
                  <a:srgbClr val="5B6577"/>
                </a:solidFill>
                <a:latin typeface="Inter"/>
              </a:rPr>
              <a:t>budgets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4023360"/>
            <a:ext cx="1554480" cy="457200"/>
          </a:xfrm>
          <a:prstGeom prst="rect">
            <a:avLst/>
          </a:prstGeom>
          <a:solidFill>
            <a:srgbClr val="F8F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402336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8A12"/>
                </a:solidFill>
                <a:latin typeface="Inter"/>
              </a:rPr>
              <a:t>~ </a:t>
            </a:r>
            <a:r>
              <a:rPr sz="760" b="0" i="0">
                <a:solidFill>
                  <a:srgbClr val="5B6577"/>
                </a:solidFill>
                <a:latin typeface="Inter"/>
              </a:rPr>
              <a:t>fees+tip on host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402336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402336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577"/>
                </a:solidFill>
                <a:latin typeface="Inter"/>
              </a:rPr>
              <a:t>Best controls; fairness still broken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4480560"/>
            <a:ext cx="137160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" y="4480560"/>
            <a:ext cx="1225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Inter"/>
              </a:rPr>
              <a:t>Grab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0" y="4480560"/>
            <a:ext cx="1463040" cy="457200"/>
          </a:xfrm>
          <a:prstGeom prst="rect">
            <a:avLst/>
          </a:prstGeom>
          <a:solidFill>
            <a:srgbClr val="F8F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03120" y="4480560"/>
            <a:ext cx="1316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98A12"/>
                </a:solidFill>
                <a:latin typeface="Inter"/>
              </a:rPr>
              <a:t>~ </a:t>
            </a:r>
            <a:r>
              <a:rPr sz="760" b="0" i="0">
                <a:solidFill>
                  <a:srgbClr val="5B6577"/>
                </a:solidFill>
                <a:latin typeface="Inter"/>
              </a:rPr>
              <a:t>QR / cutoff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0" y="4480560"/>
            <a:ext cx="1554480" cy="457200"/>
          </a:xfrm>
          <a:prstGeom prst="rect">
            <a:avLst/>
          </a:prstGeom>
          <a:solidFill>
            <a:srgbClr val="E9F5E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60" y="448056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7A4A"/>
                </a:solidFill>
                <a:latin typeface="Inter"/>
              </a:rPr>
              <a:t>✓ </a:t>
            </a:r>
            <a:r>
              <a:rPr sz="760" b="0" i="0">
                <a:solidFill>
                  <a:srgbClr val="5B6577"/>
                </a:solidFill>
                <a:latin typeface="Inter"/>
              </a:rPr>
              <a:t>even split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448056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0" y="448056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577"/>
                </a:solidFill>
                <a:latin typeface="Inter"/>
              </a:rPr>
              <a:t>Lone clean split — but no presence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937760"/>
            <a:ext cx="137160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19" y="4937760"/>
            <a:ext cx="122529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Inter"/>
              </a:rPr>
              <a:t>Meituan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0" y="4937760"/>
            <a:ext cx="1463040" cy="457200"/>
          </a:xfrm>
          <a:prstGeom prst="rect">
            <a:avLst/>
          </a:prstGeom>
          <a:solidFill>
            <a:srgbClr val="FCED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03120" y="4937760"/>
            <a:ext cx="13167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8362F"/>
                </a:solidFill>
                <a:latin typeface="Inter"/>
              </a:rPr>
              <a:t>✕ </a:t>
            </a:r>
            <a:r>
              <a:rPr sz="760" b="0" i="0">
                <a:solidFill>
                  <a:srgbClr val="5B6577"/>
                </a:solidFill>
                <a:latin typeface="Inter"/>
              </a:rPr>
              <a:t>n/a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4937760"/>
            <a:ext cx="155448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66160" y="4937760"/>
            <a:ext cx="14081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8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9AA2B0"/>
                </a:solidFill>
                <a:latin typeface="Inter"/>
              </a:rPr>
              <a:t>— </a:t>
            </a:r>
            <a:r>
              <a:rPr sz="760" b="0" i="0">
                <a:solidFill>
                  <a:srgbClr val="5B6577"/>
                </a:solidFill>
                <a:latin typeface="Inter"/>
              </a:rPr>
              <a:t>group-BUY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0" y="4937760"/>
            <a:ext cx="2377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20640" y="4937760"/>
            <a:ext cx="2212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5B6577"/>
                </a:solidFill>
                <a:latin typeface="Inter"/>
              </a:rPr>
              <a:t>Discounts, not coordination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1883664"/>
            <a:ext cx="39593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20">
                <a:solidFill>
                  <a:srgbClr val="E23744"/>
                </a:solidFill>
                <a:latin typeface="Inter"/>
              </a:rPr>
              <a:t>STEAL FROM OUTSIDE FOOD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89520" y="2194560"/>
            <a:ext cx="395935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717536" y="2340864"/>
            <a:ext cx="310896" cy="310896"/>
          </a:xfrm>
          <a:prstGeom prst="ellipse">
            <a:avLst/>
          </a:prstGeom>
          <a:solidFill>
            <a:srgbClr val="6D4A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17536" y="23408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228600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D4AA8"/>
                </a:solidFill>
                <a:latin typeface="Archivo"/>
              </a:rPr>
              <a:t>Spotify Jam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25054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32-person real-time queue; see who added what; the host runs the room.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2761488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 i="0">
                <a:solidFill>
                  <a:srgbClr val="9AA2B0"/>
                </a:solidFill>
                <a:latin typeface="Inter"/>
              </a:rPr>
              <a:t>→ borrow: </a:t>
            </a:r>
            <a:r>
              <a:rPr sz="830" b="1" i="0">
                <a:solidFill>
                  <a:srgbClr val="6D4AA8"/>
                </a:solidFill>
                <a:latin typeface="Inter"/>
              </a:rPr>
              <a:t>presence avatars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89520" y="3072384"/>
            <a:ext cx="395935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717536" y="3218688"/>
            <a:ext cx="310896" cy="310896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17536" y="321868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60" y="3163824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563A8"/>
                </a:solidFill>
                <a:latin typeface="Archivo"/>
              </a:rPr>
              <a:t>Figma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38160" y="3383279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Live cursors + per-person colour; no edit conflicts, ever.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38160" y="3639312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 i="0">
                <a:solidFill>
                  <a:srgbClr val="9AA2B0"/>
                </a:solidFill>
                <a:latin typeface="Inter"/>
              </a:rPr>
              <a:t>→ borrow: </a:t>
            </a:r>
            <a:r>
              <a:rPr sz="830" b="1" i="0">
                <a:solidFill>
                  <a:srgbClr val="2563A8"/>
                </a:solidFill>
                <a:latin typeface="Inter"/>
              </a:rPr>
              <a:t>colour sub-carts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89520" y="3950208"/>
            <a:ext cx="395935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717536" y="4096512"/>
            <a:ext cx="310896" cy="310896"/>
          </a:xfrm>
          <a:prstGeom prst="ellipse">
            <a:avLst/>
          </a:prstGeom>
          <a:solidFill>
            <a:srgbClr val="1A7A4A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17536" y="40965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★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38160" y="4041648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A4A"/>
                </a:solidFill>
                <a:latin typeface="Archivo"/>
              </a:rPr>
              <a:t>Gaming lobbies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38160" y="426110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Everyone taps “ready”; host fires on a countdown; idle players dropped.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38160" y="4517136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 i="0">
                <a:solidFill>
                  <a:srgbClr val="9AA2B0"/>
                </a:solidFill>
                <a:latin typeface="Inter"/>
              </a:rPr>
              <a:t>→ borrow: </a:t>
            </a:r>
            <a:r>
              <a:rPr sz="830" b="1" i="0">
                <a:solidFill>
                  <a:srgbClr val="1A7A4A"/>
                </a:solidFill>
                <a:latin typeface="Inter"/>
              </a:rPr>
              <a:t>ready-check + timer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89520" y="4828031"/>
            <a:ext cx="3959352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717536" y="4974336"/>
            <a:ext cx="310896" cy="310896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717536" y="497433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★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38160" y="4919471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23744"/>
                </a:solidFill>
                <a:latin typeface="Archivo"/>
              </a:rPr>
              <a:t>Splitwise / UPI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38160" y="5138927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Everyone's share settled automatically — nobody chases ₹80s.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38160" y="539495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1" i="0">
                <a:solidFill>
                  <a:srgbClr val="9AA2B0"/>
                </a:solidFill>
                <a:latin typeface="Inter"/>
              </a:rPr>
              <a:t>→ borrow: </a:t>
            </a:r>
            <a:r>
              <a:rPr sz="830" b="1" i="0">
                <a:solidFill>
                  <a:srgbClr val="E23744"/>
                </a:solidFill>
                <a:latin typeface="Inter"/>
              </a:rPr>
              <a:t>clean split-pay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0080" y="5852160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8680" y="5852160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The patterns are already solved — just never assembled for food.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That assembly is the pitch.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Inside Grab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TechCrunch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DoorDash Help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5"/>
              </a:rPr>
              <a:t>Rest of World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1A7A4A"/>
                </a:solidFill>
                <a:latin typeface="Inter"/>
              </a:rPr>
              <a:t>THE PITCH · LIVE COLLABORATIVE CART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1B26"/>
                </a:solidFill>
                <a:latin typeface="Archivo"/>
              </a:rPr>
              <a:t>One live cart. </a:t>
            </a:r>
            <a:r>
              <a:rPr sz="2600" b="1" i="0">
                <a:solidFill>
                  <a:srgbClr val="1A7A4A"/>
                </a:solidFill>
                <a:latin typeface="Archivo"/>
              </a:rPr>
              <a:t>Every leak sealed.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A real-time, presence-rich, conflict-free room that does the coordinating for the group — each piece kills a specific cluster from the diagnosis.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08792" cy="603504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104698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7A4A"/>
                </a:solidFill>
                <a:latin typeface="Archivo"/>
              </a:rPr>
              <a:t>THE LIVE COLLABORATIVE CART   </a:t>
            </a:r>
            <a:r>
              <a:rPr sz="1000" b="0" i="0">
                <a:solidFill>
                  <a:srgbClr val="5B6577"/>
                </a:solidFill>
                <a:latin typeface="Inter"/>
              </a:rPr>
              <a:t>host shares one live room → everyone adds in real time → the system drives consensus, timing, and fair payment.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78608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256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578608"/>
            <a:ext cx="2651760" cy="420624"/>
          </a:xfrm>
          <a:prstGeom prst="roundRect">
            <a:avLst>
              <a:gd name="adj" fmla="val 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578608"/>
            <a:ext cx="24323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Live presence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108960"/>
            <a:ext cx="235915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Ambient status — browsing · added · ready · paid. The room feels alive; “who's in?” just disappears.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3950208"/>
            <a:ext cx="1463040" cy="256032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95020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KILLS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242816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9AA2B0"/>
                </a:solidFill>
                <a:latin typeface="Inter"/>
              </a:rPr>
              <a:t>↳ from Spotify Jam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2424" y="2578608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1ECF8"/>
          </a:solidFill>
          <a:ln w="12700">
            <a:solidFill>
              <a:srgbClr val="6D4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92424" y="2578608"/>
            <a:ext cx="2651760" cy="420624"/>
          </a:xfrm>
          <a:prstGeom prst="roundRect">
            <a:avLst>
              <a:gd name="adj" fmla="val 5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2578608"/>
            <a:ext cx="24323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Colour sub-carts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108960"/>
            <a:ext cx="235915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Each person's own cart, merged — never shared. Zero edit conflicts; every item attributed by colour.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8728" y="3950208"/>
            <a:ext cx="1463040" cy="256032"/>
          </a:xfrm>
          <a:prstGeom prst="roundRect">
            <a:avLst>
              <a:gd name="adj" fmla="val 45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395020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KILLS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4242816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9AA2B0"/>
                </a:solidFill>
                <a:latin typeface="Inter"/>
              </a:rPr>
              <a:t>↳ from Figma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578608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8F1E0"/>
          </a:solidFill>
          <a:ln w="12700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44768" y="2578608"/>
            <a:ext cx="2651760" cy="420624"/>
          </a:xfrm>
          <a:prstGeom prst="roundRect">
            <a:avLst>
              <a:gd name="adj" fmla="val 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2578608"/>
            <a:ext cx="24323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Ready-check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3108960"/>
            <a:ext cx="235915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Each taps “I'm ready”; the host sees “3 of 5.” Consensus without nagging a soul.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2" y="3950208"/>
            <a:ext cx="1463040" cy="256032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95020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KILLS TIMING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242816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9AA2B0"/>
                </a:solidFill>
                <a:latin typeface="Inter"/>
              </a:rPr>
              <a:t>↳ from Gaming lobbies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97111" y="2578608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1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897111" y="2578608"/>
            <a:ext cx="2651760" cy="420624"/>
          </a:xfrm>
          <a:prstGeom prst="roundRect">
            <a:avLst>
              <a:gd name="adj" fmla="val 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39" y="2578608"/>
            <a:ext cx="24323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Host timer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3108960"/>
            <a:ext cx="235915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At the deadline: auto-fire confirmed items, drop stragglers, extend once. Nagging becomes a nudge.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43415" y="3950208"/>
            <a:ext cx="1463040" cy="256032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43415" y="395020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KILLS TIMING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3415" y="4242816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9AA2B0"/>
                </a:solidFill>
                <a:latin typeface="Inter"/>
              </a:rPr>
              <a:t>↳ from Gaming lobbies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535424"/>
            <a:ext cx="5358384" cy="841248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E2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460857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23744"/>
                </a:solidFill>
                <a:latin typeface="Archivo"/>
              </a:rPr>
              <a:t>Shareable deep-link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" y="4901184"/>
            <a:ext cx="3657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One tap shares the live room — discovery without digging through the cart.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9664" y="4645152"/>
            <a:ext cx="1682496" cy="274320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9664" y="4645152"/>
            <a:ext cx="16824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KILLS DISCOVERY  ·  viral 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0488" y="4535424"/>
            <a:ext cx="5358384" cy="841248"/>
          </a:xfrm>
          <a:prstGeom prst="roundRect">
            <a:avLst>
              <a:gd name="adj" fmla="val 5000"/>
            </a:avLst>
          </a:prstGeom>
          <a:solidFill>
            <a:srgbClr val="FCEDEC"/>
          </a:solidFill>
          <a:ln w="12700">
            <a:solidFill>
              <a:srgbClr val="CB2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460857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B202D"/>
                </a:solidFill>
                <a:latin typeface="Archivo"/>
              </a:rPr>
              <a:t>UPI-collect split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4901184"/>
            <a:ext cx="3657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577"/>
                </a:solidFill>
                <a:latin typeface="Inter"/>
              </a:rPr>
              <a:t>Each share auto-requested at checkout — the host stops being the group's bank.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20072" y="4645152"/>
            <a:ext cx="1682496" cy="274320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20072" y="4645152"/>
            <a:ext cx="16824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KILLS SETTLEMENT  ·  fair out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468112"/>
            <a:ext cx="10908792" cy="292608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468112"/>
            <a:ext cx="1090879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20">
                <a:solidFill>
                  <a:srgbClr val="1A7A4A"/>
                </a:solidFill>
                <a:latin typeface="Inter"/>
              </a:rPr>
              <a:t>EVERY CLUSTER SEALED    </a:t>
            </a:r>
            <a:r>
              <a:rPr sz="1000" b="1" i="0">
                <a:solidFill>
                  <a:srgbClr val="161B26"/>
                </a:solidFill>
                <a:latin typeface="Inter"/>
              </a:rPr>
              <a:t>✓ Discovery    ✓ Collection    ✓ Settlement    ✓ Timing    ✓ Fulfilment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870448"/>
            <a:ext cx="10908792" cy="530352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870448"/>
            <a:ext cx="10469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Five clusters, one cart, all sealed — but you can't ship it all on day one.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So what's the v1?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TechCrunch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Inside Grab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Swiggy Engineering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6D4AA8"/>
                </a:solidFill>
                <a:latin typeface="Inter"/>
              </a:rPr>
              <a:t>PRIORITISATION · RICE &amp; MVP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61B26"/>
                </a:solidFill>
                <a:latin typeface="Archivo"/>
              </a:rPr>
              <a:t>Six features, </a:t>
            </a:r>
            <a:r>
              <a:rPr sz="2600" b="1" i="0">
                <a:solidFill>
                  <a:srgbClr val="6D4AA8"/>
                </a:solidFill>
                <a:latin typeface="Archivo"/>
              </a:rPr>
              <a:t>one disciplined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RICE ranks the build; v1 ships only what moves the North Star and seeds the viral loop. Everything else is sequenced — not forgotten.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47088"/>
            <a:ext cx="7223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20">
                <a:solidFill>
                  <a:srgbClr val="6D4AA8"/>
                </a:solidFill>
                <a:latin typeface="Inter"/>
              </a:rPr>
              <a:t>RICE SCORECARD   </a:t>
            </a:r>
            <a:r>
              <a:rPr sz="900" b="0" i="1" spc="0">
                <a:solidFill>
                  <a:srgbClr val="9AA2B0"/>
                </a:solidFill>
                <a:latin typeface="Inter"/>
              </a:rPr>
              <a:t>Reach × Impact × Confidence ÷ Effort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39696"/>
            <a:ext cx="2057400" cy="502920"/>
          </a:xfrm>
          <a:prstGeom prst="rect">
            <a:avLst/>
          </a:prstGeom>
          <a:solidFill>
            <a:srgbClr val="6D4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139696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 i="0" spc="10">
                <a:solidFill>
                  <a:srgbClr val="FFFFFF"/>
                </a:solidFill>
                <a:latin typeface="Inter"/>
              </a:rPr>
              <a:t>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139696"/>
            <a:ext cx="1600200" cy="502920"/>
          </a:xfrm>
          <a:prstGeom prst="rect">
            <a:avLst/>
          </a:prstGeom>
          <a:solidFill>
            <a:srgbClr val="6D4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139696"/>
            <a:ext cx="145389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 i="0" spc="10">
                <a:solidFill>
                  <a:srgbClr val="FFFFFF"/>
                </a:solidFill>
                <a:latin typeface="Inter"/>
              </a:rPr>
              <a:t>RICE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39696"/>
            <a:ext cx="960120" cy="502920"/>
          </a:xfrm>
          <a:prstGeom prst="rect">
            <a:avLst/>
          </a:prstGeom>
          <a:solidFill>
            <a:srgbClr val="6D4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39696"/>
            <a:ext cx="8138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 i="0" spc="10">
                <a:solidFill>
                  <a:srgbClr val="FFFFFF"/>
                </a:solidFill>
                <a:latin typeface="Inter"/>
              </a:rPr>
              <a:t>STAGE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2139696"/>
            <a:ext cx="2606040" cy="502920"/>
          </a:xfrm>
          <a:prstGeom prst="rect">
            <a:avLst/>
          </a:prstGeom>
          <a:solidFill>
            <a:srgbClr val="6D4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139696"/>
            <a:ext cx="245973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1" i="0" spc="10">
                <a:solidFill>
                  <a:srgbClr val="FFFFFF"/>
                </a:solidFill>
                <a:latin typeface="Inter"/>
              </a:rPr>
              <a:t>WHY IT RANKS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42615"/>
            <a:ext cx="205740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642615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61B26"/>
                </a:solidFill>
                <a:latin typeface="Inter"/>
              </a:rPr>
              <a:t>Collaborative cart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642615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2642615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7A4A"/>
                </a:solidFill>
                <a:latin typeface="Archivo"/>
              </a:rPr>
              <a:t>9.4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4408" y="2848356"/>
            <a:ext cx="932688" cy="9144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64408" y="2848356"/>
            <a:ext cx="876726" cy="9144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642615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52544" y="2775203"/>
            <a:ext cx="841248" cy="237744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2775203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v1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57800" y="2642615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2642615"/>
            <a:ext cx="24414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The only feature that moves the North Star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145536"/>
            <a:ext cx="205740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3145536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61B26"/>
                </a:solidFill>
                <a:latin typeface="Inter"/>
              </a:rPr>
              <a:t>WhatsApp deep-link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3145536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632" y="3145536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7A4A"/>
                </a:solidFill>
                <a:latin typeface="Archivo"/>
              </a:rPr>
              <a:t>8.6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4408" y="3351276"/>
            <a:ext cx="932688" cy="9144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64408" y="3351276"/>
            <a:ext cx="802111" cy="9144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14553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52544" y="3278124"/>
            <a:ext cx="841248" cy="237744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278124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v1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3145536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3145536"/>
            <a:ext cx="24414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Low effort, huge reach — the viral surface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648456"/>
            <a:ext cx="205740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19" y="3648456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61B26"/>
                </a:solidFill>
                <a:latin typeface="Inter"/>
              </a:rPr>
              <a:t>UPI split-pay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3648456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70632" y="3648456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98A12"/>
                </a:solidFill>
                <a:latin typeface="Archivo"/>
              </a:rPr>
              <a:t>7.1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64408" y="3854196"/>
            <a:ext cx="932688" cy="9144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64408" y="3854196"/>
            <a:ext cx="662208" cy="91440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97680" y="364845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352544" y="3781044"/>
            <a:ext cx="841248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52544" y="3781044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Stage 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3648456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49240" y="3648456"/>
            <a:ext cx="24414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High value, high effort — the fairness fix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4151376"/>
            <a:ext cx="205740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19" y="4151376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61B26"/>
                </a:solidFill>
                <a:latin typeface="Inter"/>
              </a:rPr>
              <a:t>Restaurant vote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97480" y="4151376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70632" y="4151376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98A12"/>
                </a:solidFill>
                <a:latin typeface="Archivo"/>
              </a:rPr>
              <a:t>6.2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64408" y="4357116"/>
            <a:ext cx="932688" cy="9144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64408" y="4357116"/>
            <a:ext cx="578266" cy="91440"/>
          </a:xfrm>
          <a:prstGeom prst="rect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7680" y="415137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52544" y="4283964"/>
            <a:ext cx="841248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52544" y="4283964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Stage 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800" y="4151376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9240" y="4151376"/>
            <a:ext cx="24414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Cheap consensus, upstream of the cart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4654296"/>
            <a:ext cx="205740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19" y="4654296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61B26"/>
                </a:solidFill>
                <a:latin typeface="Inter"/>
              </a:rPr>
              <a:t>Labelled sub-bags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97480" y="4654296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70632" y="4654296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563A8"/>
                </a:solidFill>
                <a:latin typeface="Archivo"/>
              </a:rPr>
              <a:t>4.5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64408" y="4860036"/>
            <a:ext cx="932688" cy="9144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64408" y="4860036"/>
            <a:ext cx="419709" cy="91440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97680" y="465429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352544" y="4786884"/>
            <a:ext cx="841248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52544" y="4786884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Stage 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7800" y="4654296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9240" y="4654296"/>
            <a:ext cx="24414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Delight — needs restaurant compliance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" y="5157216"/>
            <a:ext cx="205740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19" y="5157216"/>
            <a:ext cx="19110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61B26"/>
                </a:solidFill>
                <a:latin typeface="Inter"/>
              </a:rPr>
              <a:t>Multi-restaurant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97480" y="5157216"/>
            <a:ext cx="1600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70632" y="5157216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A2B0"/>
                </a:solidFill>
                <a:latin typeface="Archivo"/>
              </a:rPr>
              <a:t>2.4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64408" y="5362956"/>
            <a:ext cx="932688" cy="9144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64408" y="5362956"/>
            <a:ext cx="223845" cy="91440"/>
          </a:xfrm>
          <a:prstGeom prst="rect">
            <a:avLst/>
          </a:prstGeom>
          <a:solidFill>
            <a:srgbClr val="9AA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97680" y="5157216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352544" y="5289804"/>
            <a:ext cx="841248" cy="237744"/>
          </a:xfrm>
          <a:prstGeom prst="roundRect">
            <a:avLst>
              <a:gd name="adj" fmla="val 45000"/>
            </a:avLst>
          </a:prstGeom>
          <a:solidFill>
            <a:srgbClr val="9AA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52544" y="5289804"/>
            <a:ext cx="841248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Defer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57800" y="5157216"/>
            <a:ext cx="2606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49240" y="5157216"/>
            <a:ext cx="24414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Compounds prep, routing &amp; packaging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46720" y="2139696"/>
            <a:ext cx="3502152" cy="1865376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11312" y="2231136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A4A"/>
                </a:solidFill>
                <a:latin typeface="Archivo"/>
              </a:rPr>
              <a:t>SHIP NOW · v1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11312" y="2505456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A7A4A"/>
                </a:solidFill>
                <a:latin typeface="Inter"/>
              </a:rPr>
              <a:t>✓ </a:t>
            </a:r>
            <a:r>
              <a:rPr sz="919" b="0" i="0">
                <a:solidFill>
                  <a:srgbClr val="161B26"/>
                </a:solidFill>
                <a:latin typeface="Inter"/>
              </a:rPr>
              <a:t>Single restaurant + address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A7A4A"/>
                </a:solidFill>
                <a:latin typeface="Inter"/>
              </a:rPr>
              <a:t>✓ </a:t>
            </a:r>
            <a:r>
              <a:rPr sz="919" b="0" i="0">
                <a:solidFill>
                  <a:srgbClr val="161B26"/>
                </a:solidFill>
                <a:latin typeface="Inter"/>
              </a:rPr>
              <a:t>Host-pay default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A7A4A"/>
                </a:solidFill>
                <a:latin typeface="Inter"/>
              </a:rPr>
              <a:t>✓ </a:t>
            </a:r>
            <a:r>
              <a:rPr sz="919" b="0" i="0">
                <a:solidFill>
                  <a:srgbClr val="161B26"/>
                </a:solidFill>
                <a:latin typeface="Inter"/>
              </a:rPr>
              <a:t>Real-time cart: presence · sub-carts · ready-check · timer · nudge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A7A4A"/>
                </a:solidFill>
                <a:latin typeface="Inter"/>
              </a:rPr>
              <a:t>✓ </a:t>
            </a:r>
            <a:r>
              <a:rPr sz="919" b="0" i="0">
                <a:solidFill>
                  <a:srgbClr val="161B26"/>
                </a:solidFill>
                <a:latin typeface="Inter"/>
              </a:rPr>
              <a:t>No-install web cart for guests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A7A4A"/>
                </a:solidFill>
                <a:latin typeface="Inter"/>
              </a:rPr>
              <a:t>✓ </a:t>
            </a:r>
            <a:r>
              <a:rPr sz="919" b="0" i="0">
                <a:solidFill>
                  <a:srgbClr val="161B26"/>
                </a:solidFill>
                <a:latin typeface="Inter"/>
              </a:rPr>
              <a:t>Deep-link + QR + room code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46720" y="4114800"/>
            <a:ext cx="3502152" cy="155448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11312" y="420624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6577"/>
                </a:solidFill>
                <a:latin typeface="Archivo"/>
              </a:rPr>
              <a:t>SEQUENCED, NOT FORGOTTEN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11312" y="4480560"/>
            <a:ext cx="320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C98A12"/>
                </a:solidFill>
                <a:latin typeface="Inter"/>
              </a:rPr>
              <a:t>→ </a:t>
            </a:r>
            <a:r>
              <a:rPr sz="919" b="0" i="0">
                <a:solidFill>
                  <a:srgbClr val="5B6577"/>
                </a:solidFill>
                <a:latin typeface="Inter"/>
              </a:rPr>
              <a:t>Split-pay · restaurant vote — Stage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563A8"/>
                </a:solidFill>
                <a:latin typeface="Inter"/>
              </a:rPr>
              <a:t>→ </a:t>
            </a:r>
            <a:r>
              <a:rPr sz="919" b="0" i="0">
                <a:solidFill>
                  <a:srgbClr val="5B6577"/>
                </a:solidFill>
                <a:latin typeface="Inter"/>
              </a:rPr>
              <a:t>Labelled sub-bags — Stage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9AA2B0"/>
                </a:solidFill>
                <a:latin typeface="Inter"/>
              </a:rPr>
              <a:t>→ </a:t>
            </a:r>
            <a:r>
              <a:rPr sz="919" b="0" i="0">
                <a:solidFill>
                  <a:srgbClr val="5B6577"/>
                </a:solidFill>
                <a:latin typeface="Inter"/>
              </a:rPr>
              <a:t>Multi-restaurant / multi-address — fast-follow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C8362F"/>
                </a:solidFill>
                <a:latin typeface="Inter"/>
              </a:rPr>
              <a:t>✕ </a:t>
            </a:r>
            <a:r>
              <a:rPr sz="919" b="1" i="0">
                <a:solidFill>
                  <a:srgbClr val="C8362F"/>
                </a:solidFill>
                <a:latin typeface="Inter"/>
              </a:rPr>
              <a:t>Gold-gating — would kill the acquisition loop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0080" y="5852160"/>
            <a:ext cx="10908792" cy="548640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8680" y="5852160"/>
            <a:ext cx="10469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200" b="1" i="0">
                <a:solidFill>
                  <a:srgbClr val="FFFFFF"/>
                </a:solidFill>
                <a:latin typeface="Inter"/>
              </a:rPr>
              <a:t>v1 is the live cart and the link. </a:t>
            </a:r>
            <a:r>
              <a:rPr sz="1200" b="1" i="0">
                <a:solidFill>
                  <a:srgbClr val="FFE09E"/>
                </a:solidFill>
                <a:latin typeface="Inter"/>
              </a:rPr>
              <a:t>Now — what does it actually look like?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MediaNama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Inc42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TechCrunch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1A7A4A"/>
                </a:solidFill>
                <a:latin typeface="Inter"/>
              </a:rPr>
              <a:t>THE MOCKUP · HOST'S ORCHESTRATION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61B26"/>
                </a:solidFill>
                <a:latin typeface="Archivo"/>
              </a:rPr>
              <a:t>What the host sees: </a:t>
            </a:r>
            <a:r>
              <a:rPr sz="2500" b="1" i="0">
                <a:solidFill>
                  <a:srgbClr val="1A7A4A"/>
                </a:solidFill>
                <a:latin typeface="Archivo"/>
              </a:rPr>
              <a:t>the whole room, one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This is the moat — not a shared cart, but a live control room. Every element on screen kills a coordination cost from the diagnosis.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47088"/>
            <a:ext cx="2788920" cy="3950208"/>
          </a:xfrm>
          <a:prstGeom prst="roundRect">
            <a:avLst>
              <a:gd name="adj" fmla="val 14000"/>
            </a:avLst>
          </a:prstGeom>
          <a:solidFill>
            <a:srgbClr val="141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7803" y="1938528"/>
            <a:ext cx="2633472" cy="376732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4499" y="1883664"/>
            <a:ext cx="640080" cy="100584"/>
          </a:xfrm>
          <a:prstGeom prst="roundRect">
            <a:avLst>
              <a:gd name="adj" fmla="val 50000"/>
            </a:avLst>
          </a:prstGeom>
          <a:solidFill>
            <a:srgbClr val="2A2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19" y="1975104"/>
            <a:ext cx="9144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161B26"/>
                </a:solidFill>
                <a:latin typeface="Inter"/>
              </a:rPr>
              <a:t>9:41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6876" y="1975104"/>
            <a:ext cx="78638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577"/>
                </a:solidFill>
                <a:latin typeface="Inter"/>
              </a:rPr>
              <a:t>▪ ▪ ▪  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" y="2176272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1B26"/>
                </a:solidFill>
                <a:latin typeface="Archivo"/>
              </a:rPr>
              <a:t>Group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36876" y="2194560"/>
            <a:ext cx="786384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28316" y="226771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36876" y="2194560"/>
            <a:ext cx="786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30">
                <a:solidFill>
                  <a:srgbClr val="FFFFFF"/>
                </a:solidFill>
                <a:latin typeface="Inter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" y="2450592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5B6577"/>
                </a:solidFill>
                <a:latin typeface="Inter"/>
              </a:rPr>
              <a:t>Meghana Foods · 2.1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19" y="2688336"/>
            <a:ext cx="2377439" cy="9144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5819" y="2779776"/>
            <a:ext cx="384048" cy="384048"/>
          </a:xfrm>
          <a:prstGeom prst="ellipse">
            <a:avLst/>
          </a:prstGeom>
          <a:solidFill>
            <a:srgbClr val="E23744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19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R</a:t>
            </a:r>
          </a:p>
        </p:txBody>
      </p:sp>
      <p:sp>
        <p:nvSpPr>
          <p:cNvPr id="23" name="Oval 22"/>
          <p:cNvSpPr/>
          <p:nvPr/>
        </p:nvSpPr>
        <p:spPr>
          <a:xfrm>
            <a:off x="1303019" y="2779776"/>
            <a:ext cx="384048" cy="384048"/>
          </a:xfrm>
          <a:prstGeom prst="ellipse">
            <a:avLst/>
          </a:prstGeom>
          <a:solidFill>
            <a:srgbClr val="2563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03019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P</a:t>
            </a:r>
          </a:p>
        </p:txBody>
      </p:sp>
      <p:sp>
        <p:nvSpPr>
          <p:cNvPr id="25" name="Oval 24"/>
          <p:cNvSpPr/>
          <p:nvPr/>
        </p:nvSpPr>
        <p:spPr>
          <a:xfrm>
            <a:off x="1760219" y="2779776"/>
            <a:ext cx="384048" cy="384048"/>
          </a:xfrm>
          <a:prstGeom prst="ellipse">
            <a:avLst/>
          </a:prstGeom>
          <a:solidFill>
            <a:srgbClr val="6D4AA8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60219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2217420" y="2779776"/>
            <a:ext cx="384048" cy="384048"/>
          </a:xfrm>
          <a:prstGeom prst="ellipse">
            <a:avLst/>
          </a:prstGeom>
          <a:solidFill>
            <a:srgbClr val="C98A12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17420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S</a:t>
            </a:r>
          </a:p>
        </p:txBody>
      </p:sp>
      <p:sp>
        <p:nvSpPr>
          <p:cNvPr id="29" name="Oval 28"/>
          <p:cNvSpPr/>
          <p:nvPr/>
        </p:nvSpPr>
        <p:spPr>
          <a:xfrm>
            <a:off x="2674620" y="2779776"/>
            <a:ext cx="384048" cy="384048"/>
          </a:xfrm>
          <a:prstGeom prst="ellipse">
            <a:avLst/>
          </a:prstGeom>
          <a:solidFill>
            <a:srgbClr val="9AA2B0"/>
          </a:solidFill>
          <a:ln w="222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4620" y="27797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chivo"/>
              </a:rPr>
              <a:t>+1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77539" y="2834640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5B6577"/>
                </a:solidFill>
                <a:latin typeface="Inter"/>
              </a:rPr>
              <a:t>5 joined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19" y="3255264"/>
            <a:ext cx="2377439" cy="4389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5547" y="3337560"/>
            <a:ext cx="164592" cy="164592"/>
          </a:xfrm>
          <a:prstGeom prst="ellipse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1580" y="3300984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61B26"/>
                </a:solidFill>
                <a:latin typeface="Inter"/>
              </a:rPr>
              <a:t>Rahul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1580" y="348386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B6577"/>
                </a:solidFill>
                <a:latin typeface="Inter"/>
              </a:rPr>
              <a:t>Chicken Biryani ×1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08859" y="3300984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Archivo"/>
              </a:rPr>
              <a:t>₹320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08859" y="3502152"/>
            <a:ext cx="841248" cy="164592"/>
          </a:xfrm>
          <a:prstGeom prst="roundRect">
            <a:avLst>
              <a:gd name="adj" fmla="val 5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08859" y="3488436"/>
            <a:ext cx="84124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A7A4A"/>
                </a:solidFill>
                <a:latin typeface="Inter"/>
              </a:rPr>
              <a:t>Ready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5819" y="3749039"/>
            <a:ext cx="2377439" cy="4389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55547" y="3831335"/>
            <a:ext cx="164592" cy="164592"/>
          </a:xfrm>
          <a:prstGeom prst="ellipse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11580" y="3794759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61B26"/>
                </a:solidFill>
                <a:latin typeface="Inter"/>
              </a:rPr>
              <a:t>Priya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1580" y="3977639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B6577"/>
                </a:solidFill>
                <a:latin typeface="Inter"/>
              </a:rPr>
              <a:t>Paneer Masala · Naan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08859" y="3794759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Archivo"/>
              </a:rPr>
              <a:t>₹350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08859" y="3995927"/>
            <a:ext cx="841248" cy="164592"/>
          </a:xfrm>
          <a:prstGeom prst="roundRect">
            <a:avLst>
              <a:gd name="adj" fmla="val 5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8859" y="3982211"/>
            <a:ext cx="84124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1A7A4A"/>
                </a:solidFill>
                <a:latin typeface="Inter"/>
              </a:rPr>
              <a:t>Ready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19" y="4242816"/>
            <a:ext cx="2377439" cy="4389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55547" y="4325112"/>
            <a:ext cx="164592" cy="164592"/>
          </a:xfrm>
          <a:prstGeom prst="ellipse">
            <a:avLst/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1580" y="428853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161B26"/>
                </a:solidFill>
                <a:latin typeface="Inter"/>
              </a:rPr>
              <a:t>Aman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1580" y="447141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20" b="0" i="0">
                <a:solidFill>
                  <a:srgbClr val="5B6577"/>
                </a:solidFill>
                <a:latin typeface="Inter"/>
              </a:rPr>
              <a:t>Chicken 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08859" y="4288536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61B26"/>
                </a:solidFill>
                <a:latin typeface="Archivo"/>
              </a:rPr>
              <a:t>₹260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08859" y="4489704"/>
            <a:ext cx="841248" cy="164592"/>
          </a:xfrm>
          <a:prstGeom prst="roundRect">
            <a:avLst>
              <a:gd name="adj" fmla="val 50000"/>
            </a:avLst>
          </a:prstGeom>
          <a:solidFill>
            <a:srgbClr val="F8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08859" y="4475988"/>
            <a:ext cx="841248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80" b="1" i="0">
                <a:solidFill>
                  <a:srgbClr val="C98A12"/>
                </a:solidFill>
                <a:latin typeface="Inter"/>
              </a:rPr>
              <a:t>Browsing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5819" y="4736592"/>
            <a:ext cx="2377439" cy="603504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547" y="4791456"/>
            <a:ext cx="2377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1" i="0">
                <a:solidFill>
                  <a:srgbClr val="1A7A4A"/>
                </a:solidFill>
                <a:latin typeface="Inter"/>
              </a:rPr>
              <a:t>Group total · MOV ₹199 cleared 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5547" y="495604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B26"/>
                </a:solidFill>
                <a:latin typeface="Archivo"/>
              </a:rPr>
              <a:t>₹1,240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80259" y="4828032"/>
            <a:ext cx="1033271" cy="237744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80259" y="4828032"/>
            <a:ext cx="103327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3 of 5 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80259" y="5102352"/>
            <a:ext cx="10332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CB202D"/>
                </a:solidFill>
                <a:latin typeface="Inter"/>
              </a:rPr>
              <a:t>⏱ 04:12 left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5819" y="5413248"/>
            <a:ext cx="2377439" cy="402336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19" y="5413248"/>
            <a:ext cx="237743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chivo"/>
              </a:rPr>
              <a:t>Waiting on 2  ·  Nudge or place confirmed  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60" y="1938528"/>
            <a:ext cx="77266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0">
                <a:solidFill>
                  <a:srgbClr val="CB202D"/>
                </a:solidFill>
                <a:latin typeface="Inter"/>
              </a:rPr>
              <a:t>EVERY PIXEL KILLS A COORDINATION COST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94760" y="2194560"/>
            <a:ext cx="7726679" cy="18288"/>
          </a:xfrm>
          <a:prstGeom prst="rect">
            <a:avLst/>
          </a:prstGeom>
          <a:solidFill>
            <a:srgbClr val="F6C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794760" y="2304288"/>
            <a:ext cx="7726679" cy="52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922776" y="2432304"/>
            <a:ext cx="274320" cy="274320"/>
          </a:xfrm>
          <a:prstGeom prst="ellipse">
            <a:avLst/>
          </a:prstGeom>
          <a:solidFill>
            <a:srgbClr val="2563A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22776" y="243230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34256" y="2368296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563A8"/>
                </a:solidFill>
                <a:latin typeface="Archivo"/>
              </a:rPr>
              <a:t>Live presence avatars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34256" y="2587752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Browsing · ready · paid at a glance — the room finally feels alive.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222992" y="2450592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22992" y="2450592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794760" y="2880360"/>
            <a:ext cx="7726679" cy="52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922776" y="3008376"/>
            <a:ext cx="274320" cy="274320"/>
          </a:xfrm>
          <a:prstGeom prst="ellipse">
            <a:avLst/>
          </a:prstGeom>
          <a:solidFill>
            <a:srgbClr val="6D4AA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22776" y="300837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34256" y="29443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D4AA8"/>
                </a:solidFill>
                <a:latin typeface="Archivo"/>
              </a:rPr>
              <a:t>Colour sub-carts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4256" y="3163824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Every item owned and attributed — no mix-ups, no edit conflicts, ever.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222992" y="3026664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22992" y="3026664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94760" y="3456432"/>
            <a:ext cx="7726679" cy="52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922776" y="3584448"/>
            <a:ext cx="274320" cy="274320"/>
          </a:xfrm>
          <a:prstGeom prst="ellipse">
            <a:avLst/>
          </a:prstGeom>
          <a:solidFill>
            <a:srgbClr val="C98A1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22776" y="35844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34256" y="3520440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98A12"/>
                </a:solidFill>
                <a:latin typeface="Archivo"/>
              </a:rPr>
              <a:t>Ambient status chips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34256" y="3739896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Ready / browsing / away — calm presence, never the anxiety of a shared list.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222992" y="3602736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222992" y="3602736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794760" y="4032504"/>
            <a:ext cx="7726679" cy="52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922776" y="4160520"/>
            <a:ext cx="274320" cy="274320"/>
          </a:xfrm>
          <a:prstGeom prst="ellipse">
            <a:avLst/>
          </a:prstGeom>
          <a:solidFill>
            <a:srgbClr val="1A7A4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22776" y="416052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34256" y="4096512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A4A"/>
                </a:solidFill>
                <a:latin typeface="Archivo"/>
              </a:rPr>
              <a:t>Ready-check + live total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34256" y="4315968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“3 of 5 ready” and MOV auto-cleared — consensus without nagging a soul.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222992" y="4178808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22992" y="4178808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794760" y="4608576"/>
            <a:ext cx="7726679" cy="52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922776" y="4736592"/>
            <a:ext cx="274320" cy="274320"/>
          </a:xfrm>
          <a:prstGeom prst="ellipse">
            <a:avLst/>
          </a:prstGeom>
          <a:solidFill>
            <a:srgbClr val="E2374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22776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34256" y="467258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23744"/>
                </a:solidFill>
                <a:latin typeface="Archivo"/>
              </a:rPr>
              <a:t>Host timer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34256" y="4892040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⏱ Auto-fires at 0:00; drop stragglers, extend once. Nagging becomes a nudge.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222992" y="4754880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22992" y="4754880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794760" y="5184648"/>
            <a:ext cx="7726679" cy="52120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922776" y="5312664"/>
            <a:ext cx="274320" cy="274320"/>
          </a:xfrm>
          <a:prstGeom prst="ellipse">
            <a:avLst/>
          </a:prstGeom>
          <a:solidFill>
            <a:srgbClr val="CB202D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922776" y="53126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34256" y="5248656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B202D"/>
                </a:solidFill>
                <a:latin typeface="Archivo"/>
              </a:rPr>
              <a:t>Smart place button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34256" y="5468112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“Waiting on 2 → place 3 confirmed.” The button's state drives the action.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222992" y="5330952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222992" y="5330952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0080" y="5907024"/>
            <a:ext cx="10908792" cy="475488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8680" y="5907024"/>
            <a:ext cx="104698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150" b="1" i="0">
                <a:solidFill>
                  <a:srgbClr val="FFFFFF"/>
                </a:solidFill>
                <a:latin typeface="Inter"/>
              </a:rPr>
              <a:t>That's the host's orchestration view. Next: the guest's one-tap web cart — </a:t>
            </a:r>
            <a:r>
              <a:rPr sz="1150" b="1" i="0">
                <a:solidFill>
                  <a:srgbClr val="FFE09E"/>
                </a:solidFill>
                <a:latin typeface="Inter"/>
              </a:rPr>
              <a:t>and the bill that splits itself.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TechCrunch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Inside Grab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DoorDash Help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1A7A4A"/>
                </a:solidFill>
                <a:latin typeface="Inter"/>
              </a:rPr>
              <a:t>THE MOCKUP · GUEST'S ONE-TAP CART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61B26"/>
                </a:solidFill>
                <a:latin typeface="Archivo"/>
              </a:rPr>
              <a:t>No install. One tap. </a:t>
            </a:r>
            <a:r>
              <a:rPr sz="2500" b="1" i="0">
                <a:solidFill>
                  <a:srgbClr val="1A7A4A"/>
                </a:solidFill>
                <a:latin typeface="Archivo"/>
              </a:rPr>
              <a:t>they're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The invitee never downloads a thing. A link opens a live web cart — they add, mark ready, and pay only their share. Friction out, fairness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788920" cy="393192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5875">
            <a:solidFill>
              <a:srgbClr val="9AA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7" y="2185415"/>
            <a:ext cx="2386584" cy="384048"/>
          </a:xfrm>
          <a:prstGeom prst="rect">
            <a:avLst/>
          </a:prstGeom>
          <a:solidFill>
            <a:srgbClr val="DF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5148072"/>
            <a:ext cx="2386584" cy="420624"/>
          </a:xfrm>
          <a:prstGeom prst="roundRect">
            <a:avLst>
              <a:gd name="adj" fmla="val 12000"/>
            </a:avLst>
          </a:prstGeom>
          <a:solidFill>
            <a:srgbClr val="D6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1"/>
            <a:ext cx="2788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9AA2B0"/>
                </a:solidFill>
                <a:latin typeface="Inter"/>
              </a:rPr>
              <a:t>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577"/>
                </a:solidFill>
                <a:latin typeface="Archivo"/>
              </a:rPr>
              <a:t>INVITEE WEB CART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9AA2B0"/>
                </a:solidFill>
                <a:latin typeface="Inter"/>
              </a:rPr>
              <a:t>guest screen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 spc="0">
                <a:solidFill>
                  <a:srgbClr val="9AA2B0"/>
                </a:solidFill>
                <a:latin typeface="Inter"/>
              </a:rPr>
              <a:t>mockup to be placed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938528"/>
            <a:ext cx="77266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0">
                <a:solidFill>
                  <a:srgbClr val="1A7A4A"/>
                </a:solidFill>
                <a:latin typeface="Inter"/>
              </a:rPr>
              <a:t>WHAT THE GUEST EXPERIENCES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194560"/>
            <a:ext cx="7726679" cy="18288"/>
          </a:xfrm>
          <a:prstGeom prst="rect">
            <a:avLst/>
          </a:prstGeom>
          <a:solidFill>
            <a:srgbClr val="BF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94760" y="2286000"/>
            <a:ext cx="7726679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22776" y="2404872"/>
            <a:ext cx="274320" cy="274320"/>
          </a:xfrm>
          <a:prstGeom prst="ellipse">
            <a:avLst/>
          </a:prstGeom>
          <a:solidFill>
            <a:srgbClr val="2563A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22776" y="24048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234086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563A8"/>
                </a:solidFill>
                <a:latin typeface="Archivo"/>
              </a:rPr>
              <a:t>“You're in Rahul's order · WEB”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2560320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No app, no login — the link opens a live cart right in the browser.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22992" y="2423160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22992" y="2423160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DISCOVERY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2834640"/>
            <a:ext cx="7726679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22776" y="2953512"/>
            <a:ext cx="274320" cy="274320"/>
          </a:xfrm>
          <a:prstGeom prst="ellipse">
            <a:avLst/>
          </a:prstGeom>
          <a:solidFill>
            <a:srgbClr val="6D4AA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22776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288950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D4AA8"/>
                </a:solidFill>
                <a:latin typeface="Archivo"/>
              </a:rPr>
              <a:t>Browse &amp; tap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3108960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Add from the full menu, exactly like a normal solo order.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22992" y="2971800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22992" y="2971800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60" y="3383280"/>
            <a:ext cx="7726679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922776" y="3502152"/>
            <a:ext cx="274320" cy="274320"/>
          </a:xfrm>
          <a:prstGeom prst="ellipse">
            <a:avLst/>
          </a:prstGeom>
          <a:solidFill>
            <a:srgbClr val="C98A1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2776" y="35021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6" y="343814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98A12"/>
                </a:solidFill>
                <a:latin typeface="Archivo"/>
              </a:rPr>
              <a:t>“Your sub-cart”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34256" y="3657600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Only your items and your subtotal — sticky at the bottom.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22992" y="3520440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22992" y="3520440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COLLECTION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94760" y="3931920"/>
            <a:ext cx="7726679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922776" y="4050791"/>
            <a:ext cx="274320" cy="274320"/>
          </a:xfrm>
          <a:prstGeom prst="ellipse">
            <a:avLst/>
          </a:prstGeom>
          <a:solidFill>
            <a:srgbClr val="1A7A4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2776" y="405079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6" y="3986783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7A4A"/>
                </a:solidFill>
                <a:latin typeface="Archivo"/>
              </a:rPr>
              <a:t>“I'm ready ✓”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4206240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One tap feeds the host's ready-check. No more “you done yet?”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22992" y="4069080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22992" y="4069080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TIMING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94760" y="4480560"/>
            <a:ext cx="7726679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22776" y="4599432"/>
            <a:ext cx="274320" cy="274320"/>
          </a:xfrm>
          <a:prstGeom prst="ellipse">
            <a:avLst/>
          </a:prstGeom>
          <a:solidFill>
            <a:srgbClr val="E2374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22776" y="4599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rchivo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6" y="4535424"/>
            <a:ext cx="4206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23744"/>
                </a:solidFill>
                <a:latin typeface="Archivo"/>
              </a:rPr>
              <a:t>“Pay my ₹392 via UPI →”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34256" y="4754880"/>
            <a:ext cx="5852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5B6577"/>
                </a:solidFill>
                <a:latin typeface="Inter"/>
              </a:rPr>
              <a:t>Your share only — the host finally stops being the group's bank.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22992" y="4617720"/>
            <a:ext cx="1170432" cy="237744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4617720"/>
            <a:ext cx="1170432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SETTLEMENT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94760" y="5084064"/>
            <a:ext cx="3749039" cy="566928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41064" y="5120640"/>
            <a:ext cx="34747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23744"/>
                </a:solidFill>
                <a:latin typeface="Archivo"/>
              </a:rPr>
              <a:t>VIRAL ACQUISITION  </a:t>
            </a:r>
            <a:r>
              <a:rPr sz="830" b="0" i="0">
                <a:solidFill>
                  <a:srgbClr val="5B6577"/>
                </a:solidFill>
                <a:latin typeface="Inter"/>
              </a:rPr>
              <a:t>Every guest who pays is a non-user touched at zero CAC — the K-factor loop.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08392" y="5084064"/>
            <a:ext cx="3749039" cy="566928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54696" y="5120640"/>
            <a:ext cx="34747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A7A4A"/>
                </a:solidFill>
                <a:latin typeface="Archivo"/>
              </a:rPr>
              <a:t>SETTLEMENT SOLVED  </a:t>
            </a:r>
            <a:r>
              <a:rPr sz="830" b="0" i="0">
                <a:solidFill>
                  <a:srgbClr val="5B6577"/>
                </a:solidFill>
                <a:latin typeface="Inter"/>
              </a:rPr>
              <a:t>UPI-collect ends the ₹80 chase. The single most-requested fix, shipped.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870448"/>
            <a:ext cx="10908792" cy="512064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5870448"/>
            <a:ext cx="10469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150" b="1" i="0">
                <a:solidFill>
                  <a:srgbClr val="FFFFFF"/>
                </a:solidFill>
                <a:latin typeface="Inter"/>
              </a:rPr>
              <a:t>Beautiful on the happy path. But real groups are messy — </a:t>
            </a:r>
            <a:r>
              <a:rPr sz="1150" b="1" i="0">
                <a:solidFill>
                  <a:srgbClr val="FFE09E"/>
                </a:solidFill>
                <a:latin typeface="Inter"/>
              </a:rPr>
              <a:t>what happens when it breaks?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Inside Grab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Uber Eats Help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DoorDash Help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2563A8"/>
                </a:solidFill>
                <a:latin typeface="Inter"/>
              </a:rPr>
              <a:t>BUILT TO NOT BREAK · EDGE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61B26"/>
                </a:solidFill>
                <a:latin typeface="Archivo"/>
              </a:rPr>
              <a:t>Real groups are messy. </a:t>
            </a:r>
            <a:r>
              <a:rPr sz="2500" b="1" i="0">
                <a:solidFill>
                  <a:srgbClr val="2563A8"/>
                </a:solidFill>
                <a:latin typeface="Archivo"/>
              </a:rPr>
              <a:t>The system isn't.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Happy paths are easy; the moat is in the edge cases. Every way a group order can fall apart — each with a defined, no-host-burden system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2788920" cy="393192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15875">
            <a:solidFill>
              <a:srgbClr val="9AA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7" y="2185415"/>
            <a:ext cx="2386584" cy="384048"/>
          </a:xfrm>
          <a:prstGeom prst="rect">
            <a:avLst/>
          </a:prstGeom>
          <a:solidFill>
            <a:srgbClr val="DF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5148072"/>
            <a:ext cx="2386584" cy="420624"/>
          </a:xfrm>
          <a:prstGeom prst="roundRect">
            <a:avLst>
              <a:gd name="adj" fmla="val 12000"/>
            </a:avLst>
          </a:prstGeom>
          <a:solidFill>
            <a:srgbClr val="D6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1"/>
            <a:ext cx="2788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9AA2B0"/>
                </a:solidFill>
                <a:latin typeface="Inter"/>
              </a:rPr>
              <a:t>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6577"/>
                </a:solidFill>
                <a:latin typeface="Archivo"/>
              </a:rPr>
              <a:t>THE ORDER IN MOTION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30" b="0" i="0">
                <a:solidFill>
                  <a:srgbClr val="9AA2B0"/>
                </a:solidFill>
                <a:latin typeface="Inter"/>
              </a:rPr>
              <a:t>browsing → ready → fired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1" spc="0">
                <a:solidFill>
                  <a:srgbClr val="9AA2B0"/>
                </a:solidFill>
                <a:latin typeface="Inter"/>
              </a:rPr>
              <a:t>mockup to be placed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938528"/>
            <a:ext cx="77266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0">
                <a:solidFill>
                  <a:srgbClr val="2563A8"/>
                </a:solidFill>
                <a:latin typeface="Inter"/>
              </a:rPr>
              <a:t>EVERY WAY IT BREAKS — AND EXACTLY WHAT HAPPENS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194560"/>
            <a:ext cx="7726679" cy="18288"/>
          </a:xfrm>
          <a:prstGeom prst="rect">
            <a:avLst/>
          </a:prstGeom>
          <a:solidFill>
            <a:srgbClr val="C6D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94760" y="2304288"/>
            <a:ext cx="2514600" cy="493776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22776" y="2478024"/>
            <a:ext cx="146304" cy="146304"/>
          </a:xfrm>
          <a:prstGeom prst="ellipse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1376" y="2304288"/>
            <a:ext cx="21031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E23744"/>
                </a:solidFill>
                <a:latin typeface="Archivo"/>
              </a:rPr>
              <a:t>Item sells 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304288"/>
            <a:ext cx="51663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04288"/>
            <a:ext cx="4937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Real-time flag tagged to that member; blocks ready-check until they re-pick.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2852928"/>
            <a:ext cx="2514600" cy="493776"/>
          </a:xfrm>
          <a:prstGeom prst="roundRect">
            <a:avLst>
              <a:gd name="adj" fmla="val 5000"/>
            </a:avLst>
          </a:prstGeom>
          <a:solidFill>
            <a:srgbClr val="F8F1E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22776" y="3026664"/>
            <a:ext cx="146304" cy="146304"/>
          </a:xfrm>
          <a:prstGeom prst="ellipse">
            <a:avLst/>
          </a:prstGeom>
          <a:solidFill>
            <a:srgbClr val="C98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51376" y="2852928"/>
            <a:ext cx="21031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98A12"/>
                </a:solidFill>
                <a:latin typeface="Archivo"/>
              </a:rPr>
              <a:t>Member goes idle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852928"/>
            <a:ext cx="51663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852928"/>
            <a:ext cx="4937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Presence dims to “away”; host can poke once, or drop them.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3401568"/>
            <a:ext cx="2514600" cy="493776"/>
          </a:xfrm>
          <a:prstGeom prst="roundRect">
            <a:avLst>
              <a:gd name="adj" fmla="val 5000"/>
            </a:avLst>
          </a:prstGeom>
          <a:solidFill>
            <a:srgbClr val="F1ECF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22776" y="3575303"/>
            <a:ext cx="146304" cy="146304"/>
          </a:xfrm>
          <a:prstGeom prst="ellipse">
            <a:avLst/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51376" y="3401568"/>
            <a:ext cx="21031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6D4AA8"/>
                </a:solidFill>
                <a:latin typeface="Archivo"/>
              </a:rPr>
              <a:t>Host abandons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01568"/>
            <a:ext cx="51663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401568"/>
            <a:ext cx="4937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Transfer-host to the longest-active member — the session never dies.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3950208"/>
            <a:ext cx="2514600" cy="493776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22776" y="4123944"/>
            <a:ext cx="146304" cy="146304"/>
          </a:xfrm>
          <a:prstGeom prst="ellipse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51376" y="3950208"/>
            <a:ext cx="21031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A7A4A"/>
                </a:solidFill>
                <a:latin typeface="Archivo"/>
              </a:rPr>
              <a:t>Timer expires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950208"/>
            <a:ext cx="51663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50208"/>
            <a:ext cx="4937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Auto-fire confirmed items; drop unconfirmed (notified); host can extend once.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94760" y="4498848"/>
            <a:ext cx="2514600" cy="493776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22776" y="4672584"/>
            <a:ext cx="146304" cy="146304"/>
          </a:xfrm>
          <a:prstGeom prst="ellipse">
            <a:avLst/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51376" y="4498848"/>
            <a:ext cx="21031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2563A8"/>
                </a:solidFill>
                <a:latin typeface="Archivo"/>
              </a:rPr>
              <a:t>Late joiner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4498848"/>
            <a:ext cx="51663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498848"/>
            <a:ext cx="4937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Cart locks at checkout; they see “ordering started” and can start a fresh one.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94760" y="5047488"/>
            <a:ext cx="2514600" cy="493776"/>
          </a:xfrm>
          <a:prstGeom prst="roundRect">
            <a:avLst>
              <a:gd name="adj" fmla="val 5000"/>
            </a:avLst>
          </a:prstGeom>
          <a:solidFill>
            <a:srgbClr val="FCED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22776" y="5221224"/>
            <a:ext cx="146304" cy="146304"/>
          </a:xfrm>
          <a:prstGeom prst="ellipse">
            <a:avLst/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51376" y="5047488"/>
            <a:ext cx="21031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CB202D"/>
                </a:solidFill>
                <a:latin typeface="Archivo"/>
              </a:rPr>
              <a:t>Member never pays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5047488"/>
            <a:ext cx="516636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047488"/>
            <a:ext cx="493776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i="0">
                <a:solidFill>
                  <a:srgbClr val="5B6577"/>
                </a:solidFill>
                <a:latin typeface="Inter"/>
              </a:rPr>
              <a:t>Host is prompted to nudge or drop the items — never silently charged.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870448"/>
            <a:ext cx="10908792" cy="512064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870448"/>
            <a:ext cx="10469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150" b="1" i="0">
                <a:solidFill>
                  <a:srgbClr val="FFFFFF"/>
                </a:solidFill>
                <a:latin typeface="Inter"/>
              </a:rPr>
              <a:t>Robust, fair and delightful. </a:t>
            </a:r>
            <a:r>
              <a:rPr sz="1150" b="1" i="0">
                <a:solidFill>
                  <a:srgbClr val="FFE09E"/>
                </a:solidFill>
                <a:latin typeface="Inter"/>
              </a:rPr>
              <a:t>Now the only question left — is it worth building?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Uber Eats Help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DoorDash Help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TechCrunch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THE BUSINESS CASE · DOES IT PAY?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61B26"/>
                </a:solidFill>
                <a:latin typeface="Archivo"/>
              </a:rPr>
              <a:t>Conservative upside: </a:t>
            </a:r>
            <a:r>
              <a:rPr sz="2500" b="1" i="0">
                <a:solidFill>
                  <a:srgbClr val="E23744"/>
                </a:solidFill>
                <a:latin typeface="Archivo"/>
              </a:rPr>
              <a:t>₹560 crore GMV. Aggressive: ₹2,560 crore.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Three assumptions unlock outsized returns — higher AOV on group orders, modest lift in group-session frequency, and a zero-CAC viral loop from guest invites.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83664"/>
            <a:ext cx="10908792" cy="420624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12700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83664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B202D"/>
                </a:solidFill>
                <a:latin typeface="Archivo"/>
              </a:rPr>
              <a:t>853M  </a:t>
            </a:r>
            <a:r>
              <a:rPr sz="900" b="0" i="0">
                <a:solidFill>
                  <a:srgbClr val="5B6577"/>
                </a:solidFill>
                <a:latin typeface="Inter"/>
              </a:rPr>
              <a:t>orders / yr  (FY25)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83664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B202D"/>
                </a:solidFill>
                <a:latin typeface="Archivo"/>
              </a:rPr>
              <a:t>₹453  </a:t>
            </a:r>
            <a:r>
              <a:rPr sz="900" b="0" i="0">
                <a:solidFill>
                  <a:srgbClr val="5B6577"/>
                </a:solidFill>
                <a:latin typeface="Inter"/>
              </a:rPr>
              <a:t>solo AOV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83664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B202D"/>
                </a:solidFill>
                <a:latin typeface="Archivo"/>
              </a:rPr>
              <a:t>₹38,640 cr  </a:t>
            </a:r>
            <a:r>
              <a:rPr sz="900" b="0" i="0">
                <a:solidFill>
                  <a:srgbClr val="5B6577"/>
                </a:solidFill>
                <a:latin typeface="Inter"/>
              </a:rPr>
              <a:t>GMV (FY25)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883664"/>
            <a:ext cx="25603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B202D"/>
                </a:solidFill>
                <a:latin typeface="Archivo"/>
              </a:rPr>
              <a:t>20.6M  </a:t>
            </a:r>
            <a:r>
              <a:rPr sz="900" b="0" i="0">
                <a:solidFill>
                  <a:srgbClr val="5B6577"/>
                </a:solidFill>
                <a:latin typeface="Inter"/>
              </a:rPr>
              <a:t>MTU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83664"/>
            <a:ext cx="1090879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">
                <a:solidFill>
                  <a:srgbClr val="E23744"/>
                </a:solidFill>
                <a:latin typeface="Inter"/>
              </a:rPr>
              <a:t>FY25 BASELINE 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32304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2700">
            <a:solidFill>
              <a:srgbClr val="C6D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432304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432304"/>
            <a:ext cx="31363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CONSERVATIVE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999232"/>
            <a:ext cx="31363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563A8"/>
                </a:solidFill>
                <a:latin typeface="Archivo"/>
              </a:rPr>
              <a:t>₹560 cr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3566160"/>
            <a:ext cx="1645920" cy="256032"/>
          </a:xfrm>
          <a:prstGeom prst="roundRect">
            <a:avLst>
              <a:gd name="adj" fmla="val 45000"/>
            </a:avLst>
          </a:prstGeom>
          <a:solidFill>
            <a:srgbClr val="256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566160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₹112 cr 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913632"/>
            <a:ext cx="3136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6% group-order adoption · +35% AOV lift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2432304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24528" y="2432304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2432304"/>
            <a:ext cx="31363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BASE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2999232"/>
            <a:ext cx="31363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23744"/>
                </a:solidFill>
                <a:latin typeface="Archivo"/>
              </a:rPr>
              <a:t>₹1,177 cr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3566160"/>
            <a:ext cx="1645920" cy="256032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70832" y="3566160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₹235 cr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913632"/>
            <a:ext cx="3136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12% adoption · +38% AOV · K-factor 0.15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08975" y="2432304"/>
            <a:ext cx="3429000" cy="2103120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08975" y="2432304"/>
            <a:ext cx="3429000" cy="475488"/>
          </a:xfrm>
          <a:prstGeom prst="roundRect">
            <a:avLst>
              <a:gd name="adj" fmla="val 6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2432304"/>
            <a:ext cx="313639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Archivo"/>
              </a:rPr>
              <a:t>AGGRESSIVE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999232"/>
            <a:ext cx="313639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A7A4A"/>
                </a:solidFill>
                <a:latin typeface="Archivo"/>
              </a:rPr>
              <a:t>₹2,560 cr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3566160"/>
            <a:ext cx="1645920" cy="256032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566160"/>
            <a:ext cx="16459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₹512 cr 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913632"/>
            <a:ext cx="3136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5B6577"/>
                </a:solidFill>
                <a:latin typeface="Inter"/>
              </a:rPr>
              <a:t>18% adoption · +40% AOV · K-factor 0.30+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663440"/>
            <a:ext cx="10908792" cy="438912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663440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B202D"/>
                </a:solidFill>
                <a:latin typeface="Archivo"/>
              </a:rPr>
              <a:t>~₹3–5 cr  </a:t>
            </a:r>
            <a:r>
              <a:rPr sz="850" b="0" i="0">
                <a:solidFill>
                  <a:srgbClr val="5B6577"/>
                </a:solidFill>
                <a:latin typeface="Inter"/>
              </a:rPr>
              <a:t>build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3591" y="4663440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B202D"/>
                </a:solidFill>
                <a:latin typeface="Archivo"/>
              </a:rPr>
              <a:t>47×  </a:t>
            </a:r>
            <a:r>
              <a:rPr sz="850" b="0" i="0">
                <a:solidFill>
                  <a:srgbClr val="5B6577"/>
                </a:solidFill>
                <a:latin typeface="Inter"/>
              </a:rPr>
              <a:t>ROI · base 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8504" y="4663440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B202D"/>
                </a:solidFill>
                <a:latin typeface="Archivo"/>
              </a:rPr>
              <a:t>~16 days  </a:t>
            </a:r>
            <a:r>
              <a:rPr sz="850" b="0" i="0">
                <a:solidFill>
                  <a:srgbClr val="5B6577"/>
                </a:solidFill>
                <a:latin typeface="Inter"/>
              </a:rPr>
              <a:t>payback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5" y="4663440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B202D"/>
                </a:solidFill>
                <a:latin typeface="Archivo"/>
              </a:rPr>
              <a:t>40×  </a:t>
            </a:r>
            <a:r>
              <a:rPr sz="850" b="0" i="0">
                <a:solidFill>
                  <a:srgbClr val="5B6577"/>
                </a:solidFill>
                <a:latin typeface="Inter"/>
              </a:rPr>
              <a:t>safety margin on breakeven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212080"/>
            <a:ext cx="10908792" cy="512064"/>
          </a:xfrm>
          <a:prstGeom prst="roundRect">
            <a:avLst>
              <a:gd name="adj" fmla="val 5000"/>
            </a:avLst>
          </a:prstGeom>
          <a:solidFill>
            <a:srgbClr val="FCEDEC"/>
          </a:solidFill>
          <a:ln w="12700">
            <a:solidFill>
              <a:srgbClr val="F3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212080"/>
            <a:ext cx="10469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5">
                <a:solidFill>
                  <a:srgbClr val="C8362F"/>
                </a:solidFill>
                <a:latin typeface="Inter"/>
              </a:rPr>
              <a:t>GUARDRAILS  ·  </a:t>
            </a:r>
            <a:r>
              <a:rPr sz="900" b="0" i="0">
                <a:solidFill>
                  <a:srgbClr val="5B6577"/>
                </a:solidFill>
                <a:latin typeface="Inter"/>
              </a:rPr>
              <a:t>cannibalization rate  ·  dispute/refund rate  ·  host-initiated cancellations  ·  support contacts per group order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870448"/>
            <a:ext cx="10908792" cy="512064"/>
          </a:xfrm>
          <a:prstGeom prst="roundRect">
            <a:avLst>
              <a:gd name="adj" fmla="val 5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870448"/>
            <a:ext cx="10469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C9C4"/>
                </a:solidFill>
                <a:latin typeface="Inter"/>
              </a:rPr>
              <a:t>→  </a:t>
            </a:r>
            <a:r>
              <a:rPr sz="1150" b="1" i="0">
                <a:solidFill>
                  <a:srgbClr val="FFFFFF"/>
                </a:solidFill>
                <a:latin typeface="Inter"/>
              </a:rPr>
              <a:t>The unit economics make this a near-zero-risk build. </a:t>
            </a:r>
            <a:r>
              <a:rPr sz="1150" b="1" i="0">
                <a:solidFill>
                  <a:srgbClr val="FFE09E"/>
                </a:solidFill>
                <a:latin typeface="Inter"/>
              </a:rPr>
              <a:t>The real prize is structural — it builds a moat.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MediaNama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Eternal FY25 Results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Pendo Feature Adoption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475488" cy="365760"/>
          </a:xfrm>
          <a:prstGeom prst="roundRect">
            <a:avLst>
              <a:gd name="adj" fmla="val 1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754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57200"/>
            <a:ext cx="7680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spc="140">
                <a:solidFill>
                  <a:srgbClr val="E23744"/>
                </a:solidFill>
                <a:latin typeface="Inter"/>
              </a:rPr>
              <a:t>THE PRIZE · WHY THIS BUILDS A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57200"/>
            <a:ext cx="21488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6577"/>
                </a:solidFill>
                <a:latin typeface="Archivo"/>
              </a:rPr>
              <a:t>ZOMATO </a:t>
            </a:r>
            <a:r>
              <a:rPr sz="1250" b="1" i="0">
                <a:solidFill>
                  <a:srgbClr val="E23744"/>
                </a:solidFill>
                <a:latin typeface="Archivo"/>
              </a:rPr>
              <a:t>GROUP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61B26"/>
                </a:solidFill>
                <a:latin typeface="Archivo"/>
              </a:rPr>
              <a:t>Three compounding levers. </a:t>
            </a:r>
            <a:r>
              <a:rPr sz="2500" b="1" i="0">
                <a:solidFill>
                  <a:srgbClr val="E23744"/>
                </a:solidFill>
                <a:latin typeface="Archivo"/>
              </a:rPr>
              <a:t>One social graph nobody else has.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0972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B6577"/>
                </a:solidFill>
                <a:latin typeface="Inter"/>
              </a:rPr>
              <a:t>Group ordering isn't a feature — it's a wedge into the social layer of food. Each lever compounds the others; together they lock in a network effect Swiggy can't copy without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38528"/>
            <a:ext cx="3474720" cy="2340864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38528"/>
            <a:ext cx="3474720" cy="512064"/>
          </a:xfrm>
          <a:prstGeom prst="roundRect">
            <a:avLst>
              <a:gd name="adj" fmla="val 7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38528"/>
            <a:ext cx="420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chiv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938528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Higher AOV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523744"/>
            <a:ext cx="310896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 i="0">
                <a:solidFill>
                  <a:srgbClr val="5B6577"/>
                </a:solidFill>
                <a:latin typeface="Inter"/>
              </a:rPr>
              <a:t>Group orders drive basket sizes 35–40% above solo — more items, add-ons and drinks from the host, every single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" y="3767328"/>
            <a:ext cx="3108960" cy="274320"/>
          </a:xfrm>
          <a:prstGeom prst="roundRect">
            <a:avLst>
              <a:gd name="adj" fmla="val 45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67328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₹453 → ₹610+ average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1938528"/>
            <a:ext cx="3474720" cy="2340864"/>
          </a:xfrm>
          <a:prstGeom prst="roundRect">
            <a:avLst>
              <a:gd name="adj" fmla="val 7000"/>
            </a:avLst>
          </a:prstGeom>
          <a:solidFill>
            <a:srgbClr val="F1ECF8"/>
          </a:solidFill>
          <a:ln w="12700">
            <a:solidFill>
              <a:srgbClr val="D8CA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79392" y="1938528"/>
            <a:ext cx="3474720" cy="512064"/>
          </a:xfrm>
          <a:prstGeom prst="roundRect">
            <a:avLst>
              <a:gd name="adj" fmla="val 7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1938528"/>
            <a:ext cx="420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chiv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1938528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Higher Frequency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2523744"/>
            <a:ext cx="310896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 i="0">
                <a:solidFill>
                  <a:srgbClr val="5B6577"/>
                </a:solidFill>
                <a:latin typeface="Inter"/>
              </a:rPr>
              <a:t>Solving the coordination tax removes the #1 drop-off reason for group sessions — groups order more often because it's no longer painful.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2272" y="3767328"/>
            <a:ext cx="3108960" cy="274320"/>
          </a:xfrm>
          <a:prstGeom prst="roundRect">
            <a:avLst>
              <a:gd name="adj" fmla="val 45000"/>
            </a:avLst>
          </a:prstGeom>
          <a:solidFill>
            <a:srgbClr val="6D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3767328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+2–4 sessions / month / group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18704" y="1938528"/>
            <a:ext cx="3474720" cy="2340864"/>
          </a:xfrm>
          <a:prstGeom prst="roundRect">
            <a:avLst>
              <a:gd name="adj" fmla="val 7000"/>
            </a:avLst>
          </a:prstGeom>
          <a:solidFill>
            <a:srgbClr val="E9F5EE"/>
          </a:solidFill>
          <a:ln w="12700">
            <a:solidFill>
              <a:srgbClr val="BFE3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18704" y="1938528"/>
            <a:ext cx="3474720" cy="512064"/>
          </a:xfrm>
          <a:prstGeom prst="roundRect">
            <a:avLst>
              <a:gd name="adj" fmla="val 7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1583" y="1938528"/>
            <a:ext cx="420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chiv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1938528"/>
            <a:ext cx="26517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rchivo"/>
              </a:rPr>
              <a:t>Viral K-factor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2523744"/>
            <a:ext cx="310896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 i="0">
                <a:solidFill>
                  <a:srgbClr val="5B6577"/>
                </a:solidFill>
                <a:latin typeface="Inter"/>
              </a:rPr>
              <a:t>Every host invite is a zero-CAC acquisition touch. At K ≥ 0.3, each group order organically acquires 0.3 new users into the funnel.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3767328"/>
            <a:ext cx="3108960" cy="274320"/>
          </a:xfrm>
          <a:prstGeom prst="roundRect">
            <a:avLst>
              <a:gd name="adj" fmla="val 45000"/>
            </a:avLst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3767328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30">
                <a:solidFill>
                  <a:srgbClr val="FFFFFF"/>
                </a:solidFill>
                <a:latin typeface="Inter"/>
              </a:rPr>
              <a:t>K &gt; 0.3 → viral coefficient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443984"/>
            <a:ext cx="10908792" cy="749808"/>
          </a:xfrm>
          <a:prstGeom prst="roundRect">
            <a:avLst>
              <a:gd name="adj" fmla="val 7000"/>
            </a:avLst>
          </a:prstGeom>
          <a:solidFill>
            <a:srgbClr val="FDECEA"/>
          </a:solidFill>
          <a:ln w="12700">
            <a:solidFill>
              <a:srgbClr val="F6CD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23744"/>
                </a:solidFill>
                <a:latin typeface="Archivo"/>
              </a:rPr>
              <a:t>THE MOAT  ·  </a:t>
            </a:r>
            <a:r>
              <a:rPr sz="1000" b="0" i="0">
                <a:solidFill>
                  <a:srgbClr val="5B6577"/>
                </a:solidFill>
                <a:latin typeface="Inter"/>
              </a:rPr>
              <a:t>The moment a group places its first order on Zomato, their food-social graph lives here — </a:t>
            </a:r>
            <a:r>
              <a:rPr sz="1000" b="1" i="0">
                <a:solidFill>
                  <a:srgbClr val="CB202D"/>
                </a:solidFill>
                <a:latin typeface="Inter"/>
              </a:rPr>
              <a:t>not on Swiggy, not on WhatsApp.</a:t>
            </a:r>
            <a:r>
              <a:rPr sz="1000" b="0" i="0">
                <a:solidFill>
                  <a:srgbClr val="5B6577"/>
                </a:solidFill>
                <a:latin typeface="Inter"/>
              </a:rPr>
              <a:t>  Switching means re-inviting the whole group, rebuilding trust, and losing split history. That's structural lock-in, and it compounds every session.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21808"/>
            <a:ext cx="10908792" cy="1060704"/>
          </a:xfrm>
          <a:prstGeom prst="roundRect">
            <a:avLst>
              <a:gd name="adj" fmla="val 7000"/>
            </a:avLst>
          </a:prstGeom>
          <a:solidFill>
            <a:srgbClr val="CB2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321808"/>
            <a:ext cx="1046988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chivo"/>
              </a:rPr>
              <a:t>The live cart isn't a feature drop. It's Zomato becoming the social infrastructure of group food.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FFC9C4"/>
                </a:solidFill>
                <a:latin typeface="Inter"/>
              </a:rPr>
              <a:t>The coordination cost is ours to eliminate — and the social graph is ours to own.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10972"/>
          </a:xfrm>
          <a:prstGeom prst="rect">
            <a:avLst/>
          </a:prstGeom>
          <a:solidFill>
            <a:srgbClr val="E3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620256"/>
            <a:ext cx="10058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40">
                <a:solidFill>
                  <a:srgbClr val="9AA2B0"/>
                </a:solidFill>
                <a:latin typeface="Inter"/>
              </a:rPr>
              <a:t>SOURCES  </a:t>
            </a:r>
            <a:r>
              <a:rPr sz="900">
                <a:solidFill>
                  <a:srgbClr val="2563A8"/>
                </a:solidFill>
                <a:latin typeface="Inter"/>
                <a:hlinkClick r:id="rId2"/>
              </a:rPr>
              <a:t>MediaNama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3"/>
              </a:rPr>
              <a:t>Pendo Feature Adoption Report</a:t>
            </a:r>
            <a:r>
              <a:rPr sz="900">
                <a:solidFill>
                  <a:srgbClr val="9AA2B0"/>
                </a:solidFill>
                <a:latin typeface="Inter"/>
              </a:rPr>
              <a:t>   ·   </a:t>
            </a:r>
            <a:r>
              <a:rPr sz="900">
                <a:solidFill>
                  <a:srgbClr val="2563A8"/>
                </a:solidFill>
                <a:latin typeface="Inter"/>
                <a:hlinkClick r:id="rId4"/>
              </a:rPr>
              <a:t>Inc42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620256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9AA2B0"/>
                </a:solidFill>
                <a:latin typeface="Inte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