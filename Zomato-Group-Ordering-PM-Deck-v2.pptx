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nc42.com/buzz/zomato-rolls-out-new-feature-for-users-to-place-orders-in-groups/" TargetMode="External"/><Relationship Id="rId3" Type="http://schemas.openxmlformats.org/officeDocument/2006/relationships/hyperlink" Target="https://www.medianama.com/2025/07/223-eternal-fy25-annual-report-highlights-zomato-blinkit/" TargetMode="External"/><Relationship Id="rId4" Type="http://schemas.openxmlformats.org/officeDocument/2006/relationships/hyperlink" Target="https://indianstartupnews.com/news/deepinder-goyal-led-zomato-launches-group-ordering-feature-6866846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log.swiggy.com/life-at-swiggy/heres-how-swiggy-built-the-group-ordering-feature/" TargetMode="External"/><Relationship Id="rId3" Type="http://schemas.openxmlformats.org/officeDocument/2006/relationships/hyperlink" Target="https://www.freepressjournal.in/business/no-more-passing-the-phone-zomato-boss-deepinder-goyal-announces-new-group-ordering-feature" TargetMode="External"/><Relationship Id="rId4" Type="http://schemas.openxmlformats.org/officeDocument/2006/relationships/hyperlink" Target="https://inc42.com/buzz/zomato-rolls-out-new-feature-for-users-to-place-orders-in-groups/" TargetMode="External"/><Relationship Id="rId5" Type="http://schemas.openxmlformats.org/officeDocument/2006/relationships/hyperlink" Target="https://www.medianama.com/2025/07/223-eternal-fy25-annual-report-highlights-zomato-blinkit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reepressjournal.in/business/no-more-passing-the-phone-zomato-boss-deepinder-goyal-announces-new-group-ordering-feature" TargetMode="External"/><Relationship Id="rId3" Type="http://schemas.openxmlformats.org/officeDocument/2006/relationships/hyperlink" Target="https://www.pendo.io/resources/the-2019-feature-adoption-report/" TargetMode="External"/><Relationship Id="rId4" Type="http://schemas.openxmlformats.org/officeDocument/2006/relationships/hyperlink" Target="https://inc42.com/buzz/zomato-rolls-out-new-feature-for-users-to-place-orders-in-groups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log.swiggy.com/life-at-swiggy/heres-how-swiggy-built-the-group-ordering-feature/" TargetMode="External"/><Relationship Id="rId3" Type="http://schemas.openxmlformats.org/officeDocument/2006/relationships/hyperlink" Target="https://inc42.com/buzz/zomato-rolls-out-new-feature-for-users-to-place-orders-in-groups/" TargetMode="External"/><Relationship Id="rId4" Type="http://schemas.openxmlformats.org/officeDocument/2006/relationships/hyperlink" Target="https://www.freepressjournal.in/business/no-more-passing-the-phone-zomato-boss-deepinder-goyal-announces-new-group-ordering-feature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nc42.com/buzz/zomato-rolls-out-new-feature-for-users-to-place-orders-in-groups/" TargetMode="External"/><Relationship Id="rId3" Type="http://schemas.openxmlformats.org/officeDocument/2006/relationships/hyperlink" Target="https://www.freepressjournal.in/business/no-more-passing-the-phone-zomato-boss-deepinder-goyal-announces-new-group-ordering-feature" TargetMode="External"/><Relationship Id="rId4" Type="http://schemas.openxmlformats.org/officeDocument/2006/relationships/hyperlink" Target="https://www.medianama.com/2025/07/223-eternal-fy25-annual-report-highlights-zomato-blinkit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nc42.com/buzz/zomato-rolls-out-new-feature-for-users-to-place-orders-in-groups/" TargetMode="External"/><Relationship Id="rId3" Type="http://schemas.openxmlformats.org/officeDocument/2006/relationships/hyperlink" Target="https://www.freepressjournal.in/business/no-more-passing-the-phone-zomato-boss-deepinder-goyal-announces-new-group-ordering-feature" TargetMode="External"/><Relationship Id="rId4" Type="http://schemas.openxmlformats.org/officeDocument/2006/relationships/hyperlink" Target="https://www.medianama.com/2025/07/223-eternal-fy25-annual-report-highlights-zomato-blinkit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566928" cy="64008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110">
                <a:solidFill>
                  <a:srgbClr val="5B6577"/>
                </a:solidFill>
                <a:latin typeface="Inter"/>
              </a:rPr>
              <a:t>ZOMATO  ·  PRODUCT TEARDOWN &amp; PRODUCT DESIGN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078992"/>
            <a:ext cx="11155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161B26"/>
                </a:solidFill>
                <a:latin typeface="Archivo"/>
              </a:rPr>
              <a:t>Group </a:t>
            </a:r>
            <a:r>
              <a:rPr sz="5000" b="1" i="0">
                <a:solidFill>
                  <a:srgbClr val="E23744"/>
                </a:solidFill>
                <a:latin typeface="Archivo"/>
              </a:rPr>
              <a:t>Ordering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161B26"/>
                </a:solidFill>
                <a:latin typeface="Archivo"/>
              </a:rPr>
              <a:t>re-architected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99232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5B6577"/>
                </a:solidFill>
                <a:latin typeface="Inter"/>
              </a:rPr>
              <a:t>Both Swiggy and Zomato shipped the cart. Neither shipped the </a:t>
            </a:r>
            <a:r>
              <a:rPr sz="1800" b="1" i="0">
                <a:solidFill>
                  <a:srgbClr val="161B26"/>
                </a:solidFill>
                <a:latin typeface="Inter"/>
              </a:rPr>
              <a:t>coordination</a:t>
            </a:r>
            <a:r>
              <a:rPr sz="1800" b="0" i="0">
                <a:solidFill>
                  <a:srgbClr val="5B6577"/>
                </a:solidFill>
                <a:latin typeface="Inter"/>
              </a:rPr>
              <a:t> — so the group went back to WhatsApp. Here's the feature that makes it stick.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0"/>
            <a:ext cx="2587752" cy="1078992"/>
          </a:xfrm>
          <a:prstGeom prst="roundRect">
            <a:avLst>
              <a:gd name="adj" fmla="val 7000"/>
            </a:avLst>
          </a:prstGeom>
          <a:solidFill>
            <a:srgbClr val="F6F8FB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4279392"/>
            <a:ext cx="2203704" cy="804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E23744"/>
                </a:solidFill>
                <a:latin typeface="Archivo"/>
              </a:rPr>
              <a:t>3.7×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577"/>
                </a:solidFill>
                <a:latin typeface="Inter"/>
              </a:rPr>
              <a:t>Group-order AOV vs solo · Swiggy launch weekend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9856" y="4114800"/>
            <a:ext cx="2587752" cy="1078992"/>
          </a:xfrm>
          <a:prstGeom prst="roundRect">
            <a:avLst>
              <a:gd name="adj" fmla="val 7000"/>
            </a:avLst>
          </a:prstGeom>
          <a:solidFill>
            <a:srgbClr val="F6F8FB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4279392"/>
            <a:ext cx="2203704" cy="804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CB202D"/>
                </a:solidFill>
                <a:latin typeface="Archivo"/>
              </a:rPr>
              <a:t>6%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577"/>
                </a:solidFill>
                <a:latin typeface="Inter"/>
              </a:rPr>
              <a:t>of all Swiggy orders, first weekend live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4114800"/>
            <a:ext cx="2587752" cy="1078992"/>
          </a:xfrm>
          <a:prstGeom prst="roundRect">
            <a:avLst>
              <a:gd name="adj" fmla="val 7000"/>
            </a:avLst>
          </a:prstGeom>
          <a:solidFill>
            <a:srgbClr val="F6F8FB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4279392"/>
            <a:ext cx="2203704" cy="804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2563A8"/>
                </a:solidFill>
                <a:latin typeface="Archivo"/>
              </a:rPr>
              <a:t>₹453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577"/>
                </a:solidFill>
                <a:latin typeface="Inter"/>
              </a:rPr>
              <a:t>Zomato solo AOV · FY25 baseline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9408" y="4114800"/>
            <a:ext cx="2587752" cy="1078992"/>
          </a:xfrm>
          <a:prstGeom prst="roundRect">
            <a:avLst>
              <a:gd name="adj" fmla="val 7000"/>
            </a:avLst>
          </a:prstGeom>
          <a:solidFill>
            <a:srgbClr val="F6F8FB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98864" y="4279392"/>
            <a:ext cx="2203704" cy="804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6D4AA8"/>
                </a:solidFill>
                <a:latin typeface="Archivo"/>
              </a:rPr>
              <a:t>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577"/>
                </a:solidFill>
                <a:latin typeface="Inter"/>
              </a:rPr>
              <a:t>platforms that solved split-pay fairness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541264"/>
            <a:ext cx="10908792" cy="10972"/>
          </a:xfrm>
          <a:prstGeom prst="rect">
            <a:avLst/>
          </a:prstGeom>
          <a:solidFill>
            <a:srgbClr val="E3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650992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5B6577"/>
                </a:solidFill>
                <a:latin typeface="Inter"/>
              </a:rPr>
              <a:t>by </a:t>
            </a:r>
            <a:r>
              <a:rPr sz="1350" b="1" i="0">
                <a:solidFill>
                  <a:srgbClr val="161B26"/>
                </a:solidFill>
                <a:latin typeface="Inter"/>
              </a:rPr>
              <a:t>Prakhar Beniwal</a:t>
            </a:r>
            <a:r>
              <a:rPr sz="1350" b="0" i="0">
                <a:solidFill>
                  <a:srgbClr val="5B6577"/>
                </a:solidFill>
                <a:latin typeface="Inter"/>
              </a:rPr>
              <a:t>  ·  Aspiring Product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AA2B0"/>
                </a:solidFill>
                <a:latin typeface="Inter"/>
              </a:rPr>
              <a:t>Portfolio case study — competitor figures are self-reported launch-window or single-sourced where noted; financials are directional models tagged throughout.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3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620256"/>
            <a:ext cx="10058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40">
                <a:solidFill>
                  <a:srgbClr val="9AA2B0"/>
                </a:solidFill>
                <a:latin typeface="Inter"/>
              </a:rPr>
              <a:t>SOURCES  </a:t>
            </a:r>
            <a:r>
              <a:rPr sz="900">
                <a:solidFill>
                  <a:srgbClr val="2563A8"/>
                </a:solidFill>
                <a:latin typeface="Inter"/>
                <a:hlinkClick r:id="rId2"/>
              </a:rPr>
              <a:t>Inc42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3"/>
              </a:rPr>
              <a:t>MediaNama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4"/>
              </a:rPr>
              <a:t>Indian Startup News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620256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9AA2B0"/>
                </a:solidFill>
                <a:latin typeface="Inter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475488" cy="365760"/>
          </a:xfrm>
          <a:prstGeom prst="roundRect">
            <a:avLst>
              <a:gd name="adj" fmla="val 18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4754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chivo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57200"/>
            <a:ext cx="7680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140">
                <a:solidFill>
                  <a:srgbClr val="E23744"/>
                </a:solidFill>
                <a:latin typeface="Inter"/>
              </a:rPr>
              <a:t>THE LAUNCH · AUGUST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57200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6577"/>
                </a:solidFill>
                <a:latin typeface="Archivo"/>
              </a:rPr>
              <a:t>ZOMATO </a:t>
            </a:r>
            <a:r>
              <a:rPr sz="1250" b="1" i="0">
                <a:solidFill>
                  <a:srgbClr val="E23744"/>
                </a:solidFill>
                <a:latin typeface="Archivo"/>
              </a:rPr>
              <a:t>GROUP ORDERING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9611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61B26"/>
                </a:solidFill>
                <a:latin typeface="Archivo"/>
              </a:rPr>
              <a:t>Two giants, </a:t>
            </a:r>
            <a:r>
              <a:rPr sz="2700" b="1" i="0">
                <a:solidFill>
                  <a:srgbClr val="E23744"/>
                </a:solidFill>
                <a:latin typeface="Archivo"/>
              </a:rPr>
              <a:t>the same idea</a:t>
            </a:r>
            <a:r>
              <a:rPr sz="2700" b="1" i="0">
                <a:solidFill>
                  <a:srgbClr val="161B26"/>
                </a:solidFill>
                <a:latin typeface="Archivo"/>
              </a:rPr>
              <a:t>, the same month — </a:t>
            </a:r>
            <a:r>
              <a:rPr sz="2700" b="1" i="0">
                <a:solidFill>
                  <a:srgbClr val="CB202D"/>
                </a:solidFill>
                <a:latin typeface="Archivo"/>
              </a:rPr>
              <a:t>and the same blind 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B6577"/>
                </a:solidFill>
                <a:latin typeface="Inter"/>
              </a:rPr>
              <a:t>Group ordering wasn't a moonshot — it was a fast-follow race, shipped in weeks off a thin idea. To see what was missing, first read exactly what shipped, and why both rushed.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65376"/>
            <a:ext cx="10908792" cy="20116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755648"/>
            <a:ext cx="2542032" cy="129844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8096" y="1865376"/>
            <a:ext cx="1417320" cy="274320"/>
          </a:xfrm>
          <a:prstGeom prst="roundRect">
            <a:avLst>
              <a:gd name="adj" fmla="val 45000"/>
            </a:avLst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865376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DEC 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212848"/>
            <a:ext cx="2267712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61B26"/>
                </a:solidFill>
                <a:latin typeface="Archivo"/>
              </a:rPr>
              <a:t>A hackathon castoff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 i="0">
                <a:solidFill>
                  <a:srgbClr val="5B6577"/>
                </a:solidFill>
                <a:latin typeface="Inter"/>
              </a:rPr>
              <a:t>A 2-day prototype — by an engineer who didn't even win — is picked up by Swiggy's PM team. The bet was cheap, not visionary.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755648"/>
            <a:ext cx="2542032" cy="1298448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 w="12700">
            <a:solidFill>
              <a:srgbClr val="C6D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57016" y="1865376"/>
            <a:ext cx="1417320" cy="274320"/>
          </a:xfrm>
          <a:prstGeom prst="roundRect">
            <a:avLst>
              <a:gd name="adj" fmla="val 45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57016" y="1865376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MID-AUG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4" y="2212848"/>
            <a:ext cx="2267712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563A8"/>
                </a:solidFill>
                <a:latin typeface="Archivo"/>
              </a:rPr>
              <a:t>Swiggy ships first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 i="0">
                <a:solidFill>
                  <a:srgbClr val="5B6577"/>
                </a:solidFill>
                <a:latin typeface="Inter"/>
              </a:rPr>
              <a:t>QR-first, built for the “party pain point.” One shared cart, host pays; engineered so non-users can join with no app.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755648"/>
            <a:ext cx="2542032" cy="1298448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F6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45936" y="1865376"/>
            <a:ext cx="1417320" cy="274320"/>
          </a:xfrm>
          <a:prstGeom prst="roundRect">
            <a:avLst>
              <a:gd name="adj" fmla="val 45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1865376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AUG 17, 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212848"/>
            <a:ext cx="2267712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B202D"/>
                </a:solidFill>
                <a:latin typeface="Archivo"/>
              </a:rPr>
              <a:t>Zomato clones it in days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 i="0">
                <a:solidFill>
                  <a:srgbClr val="5B6577"/>
                </a:solidFill>
                <a:latin typeface="Inter"/>
              </a:rPr>
              <a:t>Goyal on X: “No more passing the phone around.” A near-identical link-share build, rolled out gradually.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39" y="1755648"/>
            <a:ext cx="2542032" cy="1298448"/>
          </a:xfrm>
          <a:prstGeom prst="roundRect">
            <a:avLst>
              <a:gd name="adj" fmla="val 6000"/>
            </a:avLst>
          </a:prstGeom>
          <a:solidFill>
            <a:srgbClr val="FCEDEC"/>
          </a:solidFill>
          <a:ln w="12700">
            <a:solidFill>
              <a:srgbClr val="F3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34855" y="1865376"/>
            <a:ext cx="1417320" cy="274320"/>
          </a:xfrm>
          <a:prstGeom prst="roundRect">
            <a:avLst>
              <a:gd name="adj" fmla="val 45000"/>
            </a:avLst>
          </a:prstGeom>
          <a:solidFill>
            <a:srgbClr val="C83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34855" y="1865376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THAT DAY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3" y="2212848"/>
            <a:ext cx="2267712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8362F"/>
                </a:solidFill>
                <a:latin typeface="Archivo"/>
              </a:rPr>
              <a:t>The promise it broke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 i="0">
                <a:solidFill>
                  <a:srgbClr val="5B6577"/>
                </a:solidFill>
                <a:latin typeface="Inter"/>
              </a:rPr>
              <a:t>Asked about splitting the bill, Goyal says “coming soon.” ~22 months later, still no native split-pay.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200400"/>
            <a:ext cx="6537960" cy="18653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310128"/>
            <a:ext cx="6217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30">
                <a:solidFill>
                  <a:srgbClr val="E23744"/>
                </a:solidFill>
                <a:latin typeface="Inter"/>
              </a:rPr>
              <a:t>WHAT BOTH SHIPPED — AND WHERE IT CRACKS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" y="3547872"/>
            <a:ext cx="6135624" cy="18288"/>
          </a:xfrm>
          <a:prstGeom prst="rect">
            <a:avLst/>
          </a:prstGeom>
          <a:solidFill>
            <a:srgbClr val="F6C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1248" y="3657600"/>
            <a:ext cx="1371600" cy="731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3657600"/>
            <a:ext cx="115214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61B26"/>
                </a:solidFill>
                <a:latin typeface="Archivo"/>
              </a:rPr>
              <a:t>Pick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577"/>
                </a:solidFill>
                <a:latin typeface="Inter"/>
              </a:rPr>
              <a:t>restaurant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3657600"/>
            <a:ext cx="24688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28646" y="3657600"/>
            <a:ext cx="1371600" cy="73152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12700">
            <a:solidFill>
              <a:srgbClr val="C6D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38374" y="3657600"/>
            <a:ext cx="115214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563A8"/>
                </a:solidFill>
                <a:latin typeface="Archivo"/>
              </a:rPr>
              <a:t>Share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577"/>
                </a:solidFill>
                <a:latin typeface="Inter"/>
              </a:rPr>
              <a:t>link / QR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81958" y="3657600"/>
            <a:ext cx="24688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16044" y="3657600"/>
            <a:ext cx="1371600" cy="73152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2700">
            <a:solidFill>
              <a:srgbClr val="F6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25772" y="3657600"/>
            <a:ext cx="115214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B202D"/>
                </a:solidFill>
                <a:latin typeface="Archivo"/>
              </a:rPr>
              <a:t>Guests add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577"/>
                </a:solidFill>
                <a:latin typeface="Inter"/>
              </a:rPr>
              <a:t>to one cart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69356" y="3657600"/>
            <a:ext cx="24688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03443" y="3657600"/>
            <a:ext cx="1371600" cy="731520"/>
          </a:xfrm>
          <a:prstGeom prst="roundRect">
            <a:avLst>
              <a:gd name="adj" fmla="val 8000"/>
            </a:avLst>
          </a:prstGeom>
          <a:solidFill>
            <a:srgbClr val="FCEDEC"/>
          </a:solidFill>
          <a:ln w="12700">
            <a:solidFill>
              <a:srgbClr val="F3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3171" y="3657600"/>
            <a:ext cx="115214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8362F"/>
                </a:solidFill>
                <a:latin typeface="Archivo"/>
              </a:rPr>
              <a:t>Host pays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577"/>
                </a:solidFill>
                <a:latin typeface="Inter"/>
              </a:rPr>
              <a:t>for everyone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4443984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61B26"/>
                </a:solidFill>
                <a:latin typeface="Inter"/>
              </a:rPr>
              <a:t>Mechanically identical: </a:t>
            </a:r>
            <a:r>
              <a:rPr sz="1000" b="0" i="0">
                <a:solidFill>
                  <a:srgbClr val="5B6577"/>
                </a:solidFill>
                <a:latin typeface="Inter"/>
              </a:rPr>
              <a:t>host picks a restaurant, shares a link or QR, guests pile into one cart, host checks out for the table.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4718304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B202D"/>
                </a:solidFill>
                <a:latin typeface="Inter"/>
              </a:rPr>
              <a:t>Three cracks, baked in day one:  </a:t>
            </a:r>
            <a:r>
              <a:rPr sz="1000" b="0" i="0">
                <a:solidFill>
                  <a:srgbClr val="5B6577"/>
                </a:solidFill>
                <a:latin typeface="Inter"/>
              </a:rPr>
              <a:t>one address · one payer (host silently eats every fee + tip) · zero presence — you can't see who added what.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0" y="3200400"/>
            <a:ext cx="4233672" cy="1865376"/>
          </a:xfrm>
          <a:prstGeom prst="roundRect">
            <a:avLst>
              <a:gd name="adj" fmla="val 4000"/>
            </a:avLst>
          </a:prstGeom>
          <a:solidFill>
            <a:srgbClr val="FDECEA"/>
          </a:solidFill>
          <a:ln w="12700">
            <a:solidFill>
              <a:srgbClr val="F6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16368" y="3310128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20">
                <a:solidFill>
                  <a:srgbClr val="CB202D"/>
                </a:solidFill>
                <a:latin typeface="Inter"/>
              </a:rPr>
              <a:t>THE STRATEGIC READ · WHY THE RUSH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16368" y="3547872"/>
            <a:ext cx="3831336" cy="18288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16368" y="36576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CB202D"/>
                </a:solidFill>
                <a:latin typeface="Archivo"/>
              </a:rPr>
              <a:t>›  The AOV lever, not love of groups — </a:t>
            </a:r>
            <a:r>
              <a:rPr sz="869" b="0" i="0">
                <a:solidFill>
                  <a:srgbClr val="5B6577"/>
                </a:solidFill>
                <a:latin typeface="Inter"/>
              </a:rPr>
              <a:t>more mouths = a bigger basket; the 3.7× proved the math overnight. A margin play.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16368" y="400964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CB202D"/>
                </a:solidFill>
                <a:latin typeface="Archivo"/>
              </a:rPr>
              <a:t>›  Cheap to ship — </a:t>
            </a:r>
            <a:r>
              <a:rPr sz="869" b="0" i="0">
                <a:solidFill>
                  <a:srgbClr val="5B6577"/>
                </a:solidFill>
                <a:latin typeface="Inter"/>
              </a:rPr>
              <a:t>checkout was already solved — group ordering is a thin coordination wrapper. Fast follow.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16368" y="436168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CB202D"/>
                </a:solidFill>
                <a:latin typeface="Archivo"/>
              </a:rPr>
              <a:t>›  A parity race, not a moat — </a:t>
            </a:r>
            <a:r>
              <a:rPr sz="869" b="0" i="0">
                <a:solidFill>
                  <a:srgbClr val="5B6577"/>
                </a:solidFill>
                <a:latin typeface="Inter"/>
              </a:rPr>
              <a:t>both cloned one mechanic in weeks; whoever cracks coordination + fairness actually wins.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16368" y="4713731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CB202D"/>
                </a:solidFill>
                <a:latin typeface="Archivo"/>
              </a:rPr>
              <a:t>›  Built for the launch tweet — </a:t>
            </a:r>
            <a:r>
              <a:rPr sz="869" b="0" i="0">
                <a:solidFill>
                  <a:srgbClr val="5B6577"/>
                </a:solidFill>
                <a:latin typeface="Inter"/>
              </a:rPr>
              <a:t>single address, host-pays-all, split “coming soon” — the hard retention work was deferred.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5138928"/>
            <a:ext cx="10908792" cy="658368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" y="5138928"/>
            <a:ext cx="1554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">
                <a:solidFill>
                  <a:srgbClr val="E23744"/>
                </a:solidFill>
                <a:latin typeface="Inter"/>
              </a:rPr>
              <a:t>PROOF THE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">
                <a:solidFill>
                  <a:srgbClr val="E23744"/>
                </a:solidFill>
                <a:latin typeface="Inter"/>
              </a:rPr>
              <a:t>DEMAND IS REAL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432304" y="5230368"/>
            <a:ext cx="2121408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60320" y="5248656"/>
            <a:ext cx="19019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B202D"/>
                </a:solidFill>
                <a:latin typeface="Archivo"/>
              </a:rPr>
              <a:t>3.7×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B6577"/>
                </a:solidFill>
                <a:latin typeface="Inter"/>
              </a:rPr>
              <a:t>group AOV vs solo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681728" y="5230368"/>
            <a:ext cx="2121408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09744" y="5248656"/>
            <a:ext cx="19019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B202D"/>
                </a:solidFill>
                <a:latin typeface="Archivo"/>
              </a:rPr>
              <a:t>6%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B6577"/>
                </a:solidFill>
                <a:latin typeface="Inter"/>
              </a:rPr>
              <a:t>of launch-wknd orders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31152" y="5230368"/>
            <a:ext cx="2121408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59168" y="5248656"/>
            <a:ext cx="19019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B202D"/>
                </a:solidFill>
                <a:latin typeface="Archivo"/>
              </a:rPr>
              <a:t>17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B6577"/>
                </a:solidFill>
                <a:latin typeface="Inter"/>
              </a:rPr>
              <a:t>real max in one cart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80576" y="5230368"/>
            <a:ext cx="2121408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08592" y="5248656"/>
            <a:ext cx="19019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B202D"/>
                </a:solidFill>
                <a:latin typeface="Archivo"/>
              </a:rPr>
              <a:t>72 items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B6577"/>
                </a:solidFill>
                <a:latin typeface="Inter"/>
              </a:rPr>
              <a:t>one ₹14,000 order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5870448"/>
            <a:ext cx="10908792" cy="548640"/>
          </a:xfrm>
          <a:prstGeom prst="roundRect">
            <a:avLst>
              <a:gd name="adj" fmla="val 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" y="5870448"/>
            <a:ext cx="10469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C9C4"/>
                </a:solidFill>
                <a:latin typeface="Inter"/>
              </a:rPr>
              <a:t>→  </a:t>
            </a:r>
            <a:r>
              <a:rPr sz="1200" b="1" i="0">
                <a:solidFill>
                  <a:srgbClr val="FFFFFF"/>
                </a:solidFill>
                <a:latin typeface="Inter"/>
              </a:rPr>
              <a:t>Demand was never the question. Coordination was — </a:t>
            </a:r>
            <a:r>
              <a:rPr sz="1200" b="1" i="0">
                <a:solidFill>
                  <a:srgbClr val="FFE09E"/>
                </a:solidFill>
                <a:latin typeface="Inter"/>
              </a:rPr>
              <a:t>the spike proved the want; the silence after proved the gap.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3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6620256"/>
            <a:ext cx="10058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40">
                <a:solidFill>
                  <a:srgbClr val="9AA2B0"/>
                </a:solidFill>
                <a:latin typeface="Inter"/>
              </a:rPr>
              <a:t>SOURCES  </a:t>
            </a:r>
            <a:r>
              <a:rPr sz="900">
                <a:solidFill>
                  <a:srgbClr val="2563A8"/>
                </a:solidFill>
                <a:latin typeface="Inter"/>
                <a:hlinkClick r:id="rId2"/>
              </a:rPr>
              <a:t>Swiggy Engineering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3"/>
              </a:rPr>
              <a:t>Free Press Journal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4"/>
              </a:rPr>
              <a:t>Inc42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5"/>
              </a:rPr>
              <a:t>MediaNama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0" y="6620256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9AA2B0"/>
                </a:solidFill>
                <a:latin typeface="Inter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475488" cy="365760"/>
          </a:xfrm>
          <a:prstGeom prst="roundRect">
            <a:avLst>
              <a:gd name="adj" fmla="val 18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4754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chivo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57200"/>
            <a:ext cx="7680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140">
                <a:solidFill>
                  <a:srgbClr val="E23744"/>
                </a:solidFill>
                <a:latin typeface="Inter"/>
              </a:rPr>
              <a:t>THE FADE · WHERE IT LEAKS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57200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6577"/>
                </a:solidFill>
                <a:latin typeface="Archivo"/>
              </a:rPr>
              <a:t>ZOMATO </a:t>
            </a:r>
            <a:r>
              <a:rPr sz="1250" b="1" i="0">
                <a:solidFill>
                  <a:srgbClr val="E23744"/>
                </a:solidFill>
                <a:latin typeface="Archivo"/>
              </a:rPr>
              <a:t>GROUP ORDERING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9611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61B26"/>
                </a:solidFill>
                <a:latin typeface="Archivo"/>
              </a:rPr>
              <a:t>A launch spike — </a:t>
            </a:r>
            <a:r>
              <a:rPr sz="2700" b="1" i="0">
                <a:solidFill>
                  <a:srgbClr val="E23744"/>
                </a:solidFill>
                <a:latin typeface="Archivo"/>
              </a:rPr>
              <a:t>leaking where it matters most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B6577"/>
                </a:solidFill>
                <a:latin typeface="Inter"/>
              </a:rPr>
              <a:t>The demand is real and proven. The feature still bleeds — and not where you'd think. Walk the funnel: it holds at activation, and breaks at discovery and coordination.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48256"/>
            <a:ext cx="2377440" cy="1024128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 w="12700">
            <a:solidFill>
              <a:srgbClr val="C6D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1892808"/>
            <a:ext cx="1371600" cy="292608"/>
          </a:xfrm>
          <a:prstGeom prst="roundRect">
            <a:avLst>
              <a:gd name="adj" fmla="val 45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892808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BROAD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31136"/>
            <a:ext cx="21214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563A8"/>
                </a:solidFill>
                <a:latin typeface="Archivo"/>
              </a:rPr>
              <a:t>AWARENESS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577"/>
                </a:solidFill>
                <a:latin typeface="Inter"/>
              </a:rPr>
              <a:t>could group-order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048256"/>
            <a:ext cx="466344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83864" y="2048256"/>
            <a:ext cx="2377440" cy="1024128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F6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86784" y="1892808"/>
            <a:ext cx="1371600" cy="292608"/>
          </a:xfrm>
          <a:prstGeom prst="roundRect">
            <a:avLst>
              <a:gd name="adj" fmla="val 45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6784" y="1892808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LEAK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231136"/>
            <a:ext cx="21214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23744"/>
                </a:solidFill>
                <a:latin typeface="Archivo"/>
              </a:rPr>
              <a:t>DISCOVERY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577"/>
                </a:solidFill>
                <a:latin typeface="Inter"/>
              </a:rPr>
              <a:t>find the 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61304" y="2048256"/>
            <a:ext cx="466344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3864" y="31089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23744"/>
                </a:solidFill>
                <a:latin typeface="Archivo"/>
              </a:rPr>
              <a:t>↓ LEAK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2048256"/>
            <a:ext cx="2377440" cy="1024128"/>
          </a:xfrm>
          <a:prstGeom prst="roundRect">
            <a:avLst>
              <a:gd name="adj" fmla="val 6000"/>
            </a:avLst>
          </a:prstGeom>
          <a:solidFill>
            <a:srgbClr val="E9F5EE"/>
          </a:solidFill>
          <a:ln w="12700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30568" y="1892808"/>
            <a:ext cx="1371600" cy="292608"/>
          </a:xfrm>
          <a:prstGeom prst="roundRect">
            <a:avLst>
              <a:gd name="adj" fmla="val 45000"/>
            </a:avLst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1892808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HEALTHY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231136"/>
            <a:ext cx="21214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7A4A"/>
                </a:solidFill>
                <a:latin typeface="Archivo"/>
              </a:rPr>
              <a:t>ACTIVATION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577"/>
                </a:solidFill>
                <a:latin typeface="Inter"/>
              </a:rPr>
              <a:t>works when surfaced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048256"/>
            <a:ext cx="466344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31089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7A4A"/>
                </a:solidFill>
                <a:latin typeface="Archivo"/>
              </a:rPr>
              <a:t>✓ this works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71432" y="2048256"/>
            <a:ext cx="2377440" cy="1024128"/>
          </a:xfrm>
          <a:prstGeom prst="roundRect">
            <a:avLst>
              <a:gd name="adj" fmla="val 6000"/>
            </a:avLst>
          </a:prstGeom>
          <a:solidFill>
            <a:srgbClr val="FCEDEC"/>
          </a:solidFill>
          <a:ln w="12700">
            <a:solidFill>
              <a:srgbClr val="F3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74352" y="1892808"/>
            <a:ext cx="1371600" cy="292608"/>
          </a:xfrm>
          <a:prstGeom prst="roundRect">
            <a:avLst>
              <a:gd name="adj" fmla="val 4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74352" y="1892808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THE LEAK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9448" y="2231136"/>
            <a:ext cx="21214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B202D"/>
                </a:solidFill>
                <a:latin typeface="Archivo"/>
              </a:rPr>
              <a:t>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577"/>
                </a:solidFill>
                <a:latin typeface="Inter"/>
              </a:rPr>
              <a:t>come back &amp; repeat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1432" y="31089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B202D"/>
                </a:solidFill>
                <a:latin typeface="Archivo"/>
              </a:rPr>
              <a:t>↓↓ THE BIG LEAK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419856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A7A4A"/>
                </a:solidFill>
                <a:latin typeface="Inter"/>
              </a:rPr>
              <a:t>Activation is fine — the want is proven. </a:t>
            </a:r>
            <a:r>
              <a:rPr sz="1100" b="0" i="0">
                <a:solidFill>
                  <a:srgbClr val="5B6577"/>
                </a:solidFill>
                <a:latin typeface="Inter"/>
              </a:rPr>
              <a:t>The money bleeds at the two </a:t>
            </a:r>
            <a:r>
              <a:rPr sz="1100" b="1" i="0">
                <a:solidFill>
                  <a:srgbClr val="CB202D"/>
                </a:solidFill>
                <a:latin typeface="Inter"/>
              </a:rPr>
              <a:t>ends</a:t>
            </a:r>
            <a:r>
              <a:rPr sz="1100" b="0" i="0">
                <a:solidFill>
                  <a:srgbClr val="5B6577"/>
                </a:solidFill>
                <a:latin typeface="Inter"/>
              </a:rPr>
              <a:t>: nobody finds it (discovery), and nobody returns (coordination).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840480"/>
            <a:ext cx="109087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40">
                <a:solidFill>
                  <a:srgbClr val="E23744"/>
                </a:solidFill>
                <a:latin typeface="Inter"/>
              </a:rPr>
              <a:t>WHY THE SPIKE NEVER BECAME A HABIT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078224"/>
            <a:ext cx="10908792" cy="18288"/>
          </a:xfrm>
          <a:prstGeom prst="rect">
            <a:avLst/>
          </a:prstGeom>
          <a:solidFill>
            <a:srgbClr val="F6C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" y="4187952"/>
            <a:ext cx="3511296" cy="1170432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F6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" y="4315968"/>
            <a:ext cx="3145536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CB202D"/>
                </a:solidFill>
                <a:latin typeface="Archivo"/>
              </a:rPr>
              <a:t>0 in 22 mo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577"/>
                </a:solidFill>
                <a:latin typeface="Inter"/>
              </a:rPr>
              <a:t>native split-pay shipped — promised at launch, never delivered. The hard part was skipped.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38828" y="4187952"/>
            <a:ext cx="3511296" cy="1170432"/>
          </a:xfrm>
          <a:prstGeom prst="roundRect">
            <a:avLst>
              <a:gd name="adj" fmla="val 6000"/>
            </a:avLst>
          </a:prstGeom>
          <a:solidFill>
            <a:srgbClr val="F8F1E0"/>
          </a:solidFill>
          <a:ln w="12700">
            <a:solidFill>
              <a:srgbClr val="E7D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1708" y="4315968"/>
            <a:ext cx="3145536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C98A12"/>
                </a:solidFill>
                <a:latin typeface="Archivo"/>
              </a:rPr>
              <a:t>~80%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577"/>
                </a:solidFill>
                <a:latin typeface="Inter"/>
              </a:rPr>
              <a:t>of software features go rarely or never used (Pendo). A buried feature is a dead feature.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37575" y="4187952"/>
            <a:ext cx="3511296" cy="1170432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 w="12700">
            <a:solidFill>
              <a:srgbClr val="C6D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0455" y="4315968"/>
            <a:ext cx="3145536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2563A8"/>
                </a:solidFill>
                <a:latin typeface="Archivo"/>
              </a:rPr>
              <a:t>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577"/>
                </a:solidFill>
                <a:latin typeface="Inter"/>
              </a:rPr>
              <a:t>steady-state group numbers ever reported — only self-reported launch-weekend PR. The silence tells.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449824"/>
            <a:ext cx="10908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1" spc="0">
                <a:solidFill>
                  <a:srgbClr val="9AA2B0"/>
                </a:solidFill>
                <a:latin typeface="Inter"/>
              </a:rPr>
              <a:t>Spike curve is directional — no platform discloses steady-state group volume; the case rests on the signals above, not a published decline.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852160"/>
            <a:ext cx="10908792" cy="548640"/>
          </a:xfrm>
          <a:prstGeom prst="roundRect">
            <a:avLst>
              <a:gd name="adj" fmla="val 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852160"/>
            <a:ext cx="10469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C9C4"/>
                </a:solidFill>
                <a:latin typeface="Inter"/>
              </a:rPr>
              <a:t>→  </a:t>
            </a:r>
            <a:r>
              <a:rPr sz="1200" b="1" i="0">
                <a:solidFill>
                  <a:srgbClr val="FFFFFF"/>
                </a:solidFill>
                <a:latin typeface="Inter"/>
              </a:rPr>
              <a:t>A launch is not a habit. To win, Zomato has to remove the reason they leave — </a:t>
            </a:r>
            <a:r>
              <a:rPr sz="1200" b="1" i="0">
                <a:solidFill>
                  <a:srgbClr val="FFE09E"/>
                </a:solidFill>
                <a:latin typeface="Inter"/>
              </a:rPr>
              <a:t>the coordination cost.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3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6620256"/>
            <a:ext cx="10058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40">
                <a:solidFill>
                  <a:srgbClr val="9AA2B0"/>
                </a:solidFill>
                <a:latin typeface="Inter"/>
              </a:rPr>
              <a:t>SOURCES  </a:t>
            </a:r>
            <a:r>
              <a:rPr sz="900">
                <a:solidFill>
                  <a:srgbClr val="2563A8"/>
                </a:solidFill>
                <a:latin typeface="Inter"/>
                <a:hlinkClick r:id="rId2"/>
              </a:rPr>
              <a:t>Free Press Journal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3"/>
              </a:rPr>
              <a:t>Pendo Feature Adoption Report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4"/>
              </a:rPr>
              <a:t>Inc42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620256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9AA2B0"/>
                </a:solidFill>
                <a:latin typeface="Inter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475488" cy="365760"/>
          </a:xfrm>
          <a:prstGeom prst="roundRect">
            <a:avLst>
              <a:gd name="adj" fmla="val 18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4754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chivo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57200"/>
            <a:ext cx="7680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140">
                <a:solidFill>
                  <a:srgbClr val="CB202D"/>
                </a:solidFill>
                <a:latin typeface="Inter"/>
              </a:rPr>
              <a:t>DIAGNOSIS · COORDINATION, NOT CHECKOUT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57200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6577"/>
                </a:solidFill>
                <a:latin typeface="Archivo"/>
              </a:rPr>
              <a:t>ZOMATO </a:t>
            </a:r>
            <a:r>
              <a:rPr sz="1250" b="1" i="0">
                <a:solidFill>
                  <a:srgbClr val="E23744"/>
                </a:solidFill>
                <a:latin typeface="Archivo"/>
              </a:rPr>
              <a:t>GROUP ORDERING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9611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61B26"/>
                </a:solidFill>
                <a:latin typeface="Archivo"/>
              </a:rPr>
              <a:t>Zomato solved checkout. </a:t>
            </a:r>
            <a:r>
              <a:rPr sz="2600" b="1" i="0">
                <a:solidFill>
                  <a:srgbClr val="E23744"/>
                </a:solidFill>
                <a:latin typeface="Archivo"/>
              </a:rPr>
              <a:t>The real bill is coordination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577"/>
                </a:solidFill>
                <a:latin typeface="Inter"/>
              </a:rPr>
              <a:t>The cart was the easy 10%. The unpaid tax is everything around it — five clusters of coordination cost, each feeding the next, most of it borne before and after the app.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3611880" cy="841248"/>
          </a:xfrm>
          <a:prstGeom prst="roundRect">
            <a:avLst>
              <a:gd name="adj" fmla="val 6000"/>
            </a:avLst>
          </a:prstGeom>
          <a:solidFill>
            <a:srgbClr val="E9F5EE"/>
          </a:solidFill>
          <a:ln w="12700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74519"/>
            <a:ext cx="3291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7A4A"/>
                </a:solidFill>
                <a:latin typeface="Archivo"/>
              </a:rPr>
              <a:t>SOLVED  ✓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 i="0">
                <a:solidFill>
                  <a:srgbClr val="5B6577"/>
                </a:solidFill>
                <a:latin typeface="Inter"/>
              </a:rPr>
              <a:t>Checkout &amp; the shared cart — a thin wrapper on an already-solved 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1874519"/>
            <a:ext cx="51206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64608" y="1874519"/>
            <a:ext cx="6684264" cy="841248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F6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65776" y="1874519"/>
            <a:ext cx="6355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B202D"/>
                </a:solidFill>
                <a:latin typeface="Archivo"/>
              </a:rPr>
              <a:t>UNSOLVED  ✕</a:t>
            </a:r>
            <a:r>
              <a:rPr sz="1200" b="1" i="0">
                <a:solidFill>
                  <a:srgbClr val="E23744"/>
                </a:solidFill>
                <a:latin typeface="Archivo"/>
              </a:rPr>
              <a:t>   Coordination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 i="0">
                <a:solidFill>
                  <a:srgbClr val="5B6577"/>
                </a:solidFill>
                <a:latin typeface="Inter"/>
              </a:rPr>
              <a:t>The actual job: getting a group from “let's order something” to “it's here, and everyone paid their share.”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89504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20">
                <a:solidFill>
                  <a:srgbClr val="E23744"/>
                </a:solidFill>
                <a:latin typeface="Inter"/>
              </a:rPr>
              <a:t>THE COORDINATION-COST CHAIN — EACH FAILURE FEEDS THE NEXT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13264" y="2852928"/>
            <a:ext cx="1435608" cy="310896"/>
          </a:xfrm>
          <a:prstGeom prst="roundRect">
            <a:avLst>
              <a:gd name="adj" fmla="val 4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13264" y="2852928"/>
            <a:ext cx="14356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18 FAILURE 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55264"/>
            <a:ext cx="1993392" cy="1993392"/>
          </a:xfrm>
          <a:prstGeom prst="roundRect">
            <a:avLst>
              <a:gd name="adj" fmla="val 5000"/>
            </a:avLst>
          </a:prstGeom>
          <a:solidFill>
            <a:srgbClr val="F1ECF8"/>
          </a:solidFill>
          <a:ln w="12700">
            <a:solidFill>
              <a:srgbClr val="6D4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255264"/>
            <a:ext cx="1993392" cy="548640"/>
          </a:xfrm>
          <a:prstGeom prst="roundRect">
            <a:avLst>
              <a:gd name="adj" fmla="val 5000"/>
            </a:avLst>
          </a:prstGeom>
          <a:solidFill>
            <a:srgbClr val="6D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291840"/>
            <a:ext cx="177393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chivo"/>
              </a:rPr>
              <a:t>DISCOVERY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Inter"/>
              </a:rPr>
              <a:t>find it at 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877056"/>
            <a:ext cx="17739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6D4AA8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Buried in the cart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6D4AA8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No home-screen entry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6D4AA8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No pre-cart consensus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4791456"/>
            <a:ext cx="175564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 spc="10">
                <a:solidFill>
                  <a:srgbClr val="6D4AA8"/>
                </a:solidFill>
                <a:latin typeface="Inter"/>
              </a:rPr>
              <a:t>COORD. COST · MED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" y="4956048"/>
            <a:ext cx="1755648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8952" y="4956048"/>
            <a:ext cx="877824" cy="100584"/>
          </a:xfrm>
          <a:prstGeom prst="rect">
            <a:avLst/>
          </a:prstGeom>
          <a:solidFill>
            <a:srgbClr val="6D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6040" y="3374136"/>
            <a:ext cx="28117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59786" y="3255264"/>
            <a:ext cx="1993392" cy="1993392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 w="12700">
            <a:solidFill>
              <a:srgbClr val="256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859786" y="3255264"/>
            <a:ext cx="1993392" cy="548640"/>
          </a:xfrm>
          <a:prstGeom prst="roundRect">
            <a:avLst>
              <a:gd name="adj" fmla="val 5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69514" y="3291840"/>
            <a:ext cx="177393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chivo"/>
              </a:rPr>
              <a:t>COLLECTION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Inter"/>
              </a:rPr>
              <a:t>who's in, what they want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8658" y="3877056"/>
            <a:ext cx="17739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2563A8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Who's even joining?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2563A8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Phone-passing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2563A8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What does each want?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2563A8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Late joiners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8658" y="4791456"/>
            <a:ext cx="175564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 spc="10">
                <a:solidFill>
                  <a:srgbClr val="E23744"/>
                </a:solidFill>
                <a:latin typeface="Inter"/>
              </a:rPr>
              <a:t>COORD. COST · 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78658" y="4956048"/>
            <a:ext cx="1755648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78658" y="4956048"/>
            <a:ext cx="1439631" cy="10058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5746" y="3374136"/>
            <a:ext cx="28117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79492" y="3255264"/>
            <a:ext cx="1993392" cy="1993392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 w="12700">
            <a:solidFill>
              <a:srgbClr val="E23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79492" y="3255264"/>
            <a:ext cx="1993392" cy="548640"/>
          </a:xfrm>
          <a:prstGeom prst="roundRect">
            <a:avLst>
              <a:gd name="adj" fmla="val 5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89220" y="3291840"/>
            <a:ext cx="177393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chivo"/>
              </a:rPr>
              <a:t>SETTLEMENT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Inter"/>
              </a:rPr>
              <a:t>who pays what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98364" y="3877056"/>
            <a:ext cx="17739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E23744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Host eats all fees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E23744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Chasing ₹80s on UPI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E23744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“I'll pay later” decay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E23744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No split-pay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98364" y="4791456"/>
            <a:ext cx="175564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 spc="10">
                <a:solidFill>
                  <a:srgbClr val="E23744"/>
                </a:solidFill>
                <a:latin typeface="Inter"/>
              </a:rPr>
              <a:t>COORD. COST · HIGHEST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98364" y="4956048"/>
            <a:ext cx="1755648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98364" y="4956048"/>
            <a:ext cx="1755648" cy="10058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5452" y="3374136"/>
            <a:ext cx="28117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99198" y="3255264"/>
            <a:ext cx="1993392" cy="1993392"/>
          </a:xfrm>
          <a:prstGeom prst="roundRect">
            <a:avLst>
              <a:gd name="adj" fmla="val 5000"/>
            </a:avLst>
          </a:prstGeom>
          <a:solidFill>
            <a:srgbClr val="F8F1E0"/>
          </a:solidFill>
          <a:ln w="12700">
            <a:solidFill>
              <a:srgbClr val="C98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299198" y="3255264"/>
            <a:ext cx="1993392" cy="548640"/>
          </a:xfrm>
          <a:prstGeom prst="roundRect">
            <a:avLst>
              <a:gd name="adj" fmla="val 5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8926" y="3291840"/>
            <a:ext cx="177393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chivo"/>
              </a:rPr>
              <a:t>TIMING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Inter"/>
              </a:rPr>
              <a:t>when do we fire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18070" y="3877056"/>
            <a:ext cx="17739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C98A12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Waiting on stragglers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C98A12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Nagging the group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C98A12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No deadline or nudge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18070" y="4791456"/>
            <a:ext cx="175564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 spc="10">
                <a:solidFill>
                  <a:srgbClr val="E23744"/>
                </a:solidFill>
                <a:latin typeface="Inter"/>
              </a:rPr>
              <a:t>COORD. COST · HIGH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18070" y="4956048"/>
            <a:ext cx="1755648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18070" y="4956048"/>
            <a:ext cx="1439631" cy="10058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65158" y="3374136"/>
            <a:ext cx="28117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18904" y="3255264"/>
            <a:ext cx="1993392" cy="1993392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2700">
            <a:solidFill>
              <a:srgbClr val="1A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518904" y="3255264"/>
            <a:ext cx="1993392" cy="548640"/>
          </a:xfrm>
          <a:prstGeom prst="roundRect">
            <a:avLst>
              <a:gd name="adj" fmla="val 5000"/>
            </a:avLst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28632" y="3291840"/>
            <a:ext cx="177393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chivo"/>
              </a:rPr>
              <a:t>FULFILMENT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Inter"/>
              </a:rPr>
              <a:t>whose food is whose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37776" y="3877056"/>
            <a:ext cx="17739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1A7A4A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“Whose biryani?”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1A7A4A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Mixed-up bags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1A7A4A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One address only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1A7A4A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Big-order packaging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37776" y="4791456"/>
            <a:ext cx="175564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 spc="10">
                <a:solidFill>
                  <a:srgbClr val="1A7A4A"/>
                </a:solidFill>
                <a:latin typeface="Inter"/>
              </a:rPr>
              <a:t>COORD. COST · MED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37776" y="4956048"/>
            <a:ext cx="1755648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637776" y="4956048"/>
            <a:ext cx="965606" cy="100584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340096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577"/>
                </a:solidFill>
                <a:latin typeface="Inter"/>
              </a:rPr>
              <a:t>The heaviest costs — </a:t>
            </a:r>
            <a:r>
              <a:rPr sz="1100" b="1" i="0">
                <a:solidFill>
                  <a:srgbClr val="E23744"/>
                </a:solidFill>
                <a:latin typeface="Inter"/>
              </a:rPr>
              <a:t>settlement</a:t>
            </a:r>
            <a:r>
              <a:rPr sz="1100" b="0" i="0">
                <a:solidFill>
                  <a:srgbClr val="5B6577"/>
                </a:solidFill>
                <a:latin typeface="Inter"/>
              </a:rPr>
              <a:t> and </a:t>
            </a:r>
            <a:r>
              <a:rPr sz="1100" b="1" i="0">
                <a:solidFill>
                  <a:srgbClr val="2563A8"/>
                </a:solidFill>
                <a:latin typeface="Inter"/>
              </a:rPr>
              <a:t>collection</a:t>
            </a:r>
            <a:r>
              <a:rPr sz="1100" b="0" i="0">
                <a:solidFill>
                  <a:srgbClr val="5B6577"/>
                </a:solidFill>
                <a:latin typeface="Inter"/>
              </a:rPr>
              <a:t> — are exactly what Zomato's v1 leaves untouched. The cart fixed the cheapest link in the chain.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5852160"/>
            <a:ext cx="10908792" cy="548640"/>
          </a:xfrm>
          <a:prstGeom prst="roundRect">
            <a:avLst>
              <a:gd name="adj" fmla="val 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" y="5852160"/>
            <a:ext cx="10469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C9C4"/>
                </a:solidFill>
                <a:latin typeface="Inter"/>
              </a:rPr>
              <a:t>→  </a:t>
            </a:r>
            <a:r>
              <a:rPr sz="1200" b="1" i="0">
                <a:solidFill>
                  <a:srgbClr val="FFFFFF"/>
                </a:solidFill>
                <a:latin typeface="Inter"/>
              </a:rPr>
              <a:t>The coordination tax isn't evenly paid. </a:t>
            </a:r>
            <a:r>
              <a:rPr sz="1200" b="1" i="0">
                <a:solidFill>
                  <a:srgbClr val="FFE09E"/>
                </a:solidFill>
                <a:latin typeface="Inter"/>
              </a:rPr>
              <a:t>Meet the people who pay the most.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3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6620256"/>
            <a:ext cx="10058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40">
                <a:solidFill>
                  <a:srgbClr val="9AA2B0"/>
                </a:solidFill>
                <a:latin typeface="Inter"/>
              </a:rPr>
              <a:t>SOURCES  </a:t>
            </a:r>
            <a:r>
              <a:rPr sz="900">
                <a:solidFill>
                  <a:srgbClr val="2563A8"/>
                </a:solidFill>
                <a:latin typeface="Inter"/>
                <a:hlinkClick r:id="rId2"/>
              </a:rPr>
              <a:t>Swiggy Engineering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3"/>
              </a:rPr>
              <a:t>Inc42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4"/>
              </a:rPr>
              <a:t>Free Press Journal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0" y="6620256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9AA2B0"/>
                </a:solidFill>
                <a:latin typeface="Inter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475488" cy="365760"/>
          </a:xfrm>
          <a:prstGeom prst="roundRect">
            <a:avLst>
              <a:gd name="adj" fmla="val 18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4754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chivo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57200"/>
            <a:ext cx="7680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140">
                <a:solidFill>
                  <a:srgbClr val="E23744"/>
                </a:solidFill>
                <a:latin typeface="Inter"/>
              </a:rPr>
              <a:t>PERSONAS · THE COORDINATION TAX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57200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6577"/>
                </a:solidFill>
                <a:latin typeface="Archivo"/>
              </a:rPr>
              <a:t>ZOMATO </a:t>
            </a:r>
            <a:r>
              <a:rPr sz="1250" b="1" i="0">
                <a:solidFill>
                  <a:srgbClr val="E23744"/>
                </a:solidFill>
                <a:latin typeface="Archivo"/>
              </a:rPr>
              <a:t>GROUP ORDERING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9611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61B26"/>
                </a:solidFill>
                <a:latin typeface="Archivo"/>
              </a:rPr>
              <a:t>11:40 PM. Five hungry flatmates. </a:t>
            </a:r>
            <a:r>
              <a:rPr sz="2400" b="1" i="0">
                <a:solidFill>
                  <a:srgbClr val="E23744"/>
                </a:solidFill>
                <a:latin typeface="Archivo"/>
              </a:rPr>
              <a:t>One very tired host.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577"/>
                </a:solidFill>
                <a:latin typeface="Inter"/>
              </a:rPr>
              <a:t>Meet Rahul and the PG crew — the anchor user. Follow ONE late-night order to feel how heavy the coordination tax really is, even with “group ordering” switched 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 w="12700">
            <a:solidFill>
              <a:srgbClr val="F6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54480" y="2048256"/>
            <a:ext cx="640080" cy="640080"/>
          </a:xfrm>
          <a:prstGeom prst="ellipse">
            <a:avLst/>
          </a:prstGeom>
          <a:solidFill>
            <a:srgbClr val="E23744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048256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779776"/>
            <a:ext cx="1554480" cy="274320"/>
          </a:xfrm>
          <a:prstGeom prst="roundRect">
            <a:avLst>
              <a:gd name="adj" fmla="val 4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779776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ANCHOR PERSONA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145536"/>
            <a:ext cx="22128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61B26"/>
                </a:solidFill>
                <a:latin typeface="Archivo"/>
              </a:rPr>
              <a:t>Rahul &amp; the PG crew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493008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5B6577"/>
                </a:solidFill>
                <a:latin typeface="Inter"/>
              </a:rPr>
              <a:t>3–8 flatmates · students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5B6577"/>
                </a:solidFill>
                <a:latin typeface="Inter"/>
              </a:rPr>
              <a:t>price-sensitive · late-night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5B6577"/>
                </a:solidFill>
                <a:latin typeface="Inter"/>
              </a:rPr>
              <a:t>UPI + WhatsApp native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5B6577"/>
                </a:solidFill>
                <a:latin typeface="Inter"/>
              </a:rPr>
              <a:t>shared rooms — QR shines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224528"/>
            <a:ext cx="22128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 spc="30">
                <a:solidFill>
                  <a:srgbClr val="E23744"/>
                </a:solidFill>
                <a:latin typeface="Inter"/>
              </a:rPr>
              <a:t>WHY THE ANCHOR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869" b="0" i="0">
                <a:solidFill>
                  <a:srgbClr val="5B6577"/>
                </a:solidFill>
                <a:latin typeface="Inter"/>
              </a:rPr>
              <a:t>Highest pain, densest social graph, biggest viral upside.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1874519"/>
            <a:ext cx="26060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01568" y="1984248"/>
            <a:ext cx="292608" cy="292608"/>
          </a:xfrm>
          <a:prstGeom prst="ellipse">
            <a:avLst/>
          </a:prstGeom>
          <a:solidFill>
            <a:srgbClr val="2563A8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01568" y="198424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8" y="1993391"/>
            <a:ext cx="20391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61B26"/>
                </a:solidFill>
                <a:latin typeface="Archivo"/>
              </a:rPr>
              <a:t>The 40-message debate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9856" y="2313432"/>
            <a:ext cx="2350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i="0">
                <a:solidFill>
                  <a:srgbClr val="5B6577"/>
                </a:solidFill>
                <a:latin typeface="Inter"/>
              </a:rPr>
              <a:t>20 min of “biryani or pizza?” in the chat. Half never reply.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19856" y="2843784"/>
            <a:ext cx="1078992" cy="237744"/>
          </a:xfrm>
          <a:prstGeom prst="roundRect">
            <a:avLst>
              <a:gd name="adj" fmla="val 45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9856" y="2843784"/>
            <a:ext cx="107899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COLLECTION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26864" y="2889503"/>
            <a:ext cx="1143000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26864" y="2889503"/>
            <a:ext cx="342900" cy="100584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79592" y="1874519"/>
            <a:ext cx="16459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62472" y="1874519"/>
            <a:ext cx="26060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172200" y="1984248"/>
            <a:ext cx="292608" cy="292608"/>
          </a:xfrm>
          <a:prstGeom prst="ellipse">
            <a:avLst/>
          </a:prstGeom>
          <a:solidFill>
            <a:srgbClr val="2563A8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198424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1993391"/>
            <a:ext cx="20391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61B26"/>
                </a:solidFill>
                <a:latin typeface="Archivo"/>
              </a:rPr>
              <a:t>Pass the phone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0488" y="2313432"/>
            <a:ext cx="2350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i="0">
                <a:solidFill>
                  <a:srgbClr val="5B6577"/>
                </a:solidFill>
                <a:latin typeface="Inter"/>
              </a:rPr>
              <a:t>His phone circles the room; someone deletes an item by mistake.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2843784"/>
            <a:ext cx="1078992" cy="237744"/>
          </a:xfrm>
          <a:prstGeom prst="roundRect">
            <a:avLst>
              <a:gd name="adj" fmla="val 45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0488" y="2843784"/>
            <a:ext cx="107899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COLLECTION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97496" y="2889503"/>
            <a:ext cx="1143000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97496" y="2889503"/>
            <a:ext cx="514350" cy="100584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50224" y="1874519"/>
            <a:ext cx="16459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33104" y="1874519"/>
            <a:ext cx="26060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42832" y="1984248"/>
            <a:ext cx="292608" cy="292608"/>
          </a:xfrm>
          <a:prstGeom prst="ellipse">
            <a:avLst/>
          </a:prstGeom>
          <a:solidFill>
            <a:srgbClr val="C98A12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42832" y="198424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08592" y="1993391"/>
            <a:ext cx="20391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61B26"/>
                </a:solidFill>
                <a:latin typeface="Archivo"/>
              </a:rPr>
              <a:t>Who's even in?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2313432"/>
            <a:ext cx="2350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i="0">
                <a:solidFill>
                  <a:srgbClr val="5B6577"/>
                </a:solidFill>
                <a:latin typeface="Inter"/>
              </a:rPr>
              <a:t>Two are “still deciding.” The cart sits open for half an hour.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61120" y="2843784"/>
            <a:ext cx="1078992" cy="237744"/>
          </a:xfrm>
          <a:prstGeom prst="roundRect">
            <a:avLst>
              <a:gd name="adj" fmla="val 45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0" y="2843784"/>
            <a:ext cx="107899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TIMING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68128" y="2889503"/>
            <a:ext cx="1143000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168128" y="2889503"/>
            <a:ext cx="685800" cy="100584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291840" y="3337559"/>
            <a:ext cx="26060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401568" y="3447287"/>
            <a:ext cx="292608" cy="292608"/>
          </a:xfrm>
          <a:prstGeom prst="ellipse">
            <a:avLst/>
          </a:prstGeom>
          <a:solidFill>
            <a:srgbClr val="E23744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01568" y="3447287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67328" y="3456431"/>
            <a:ext cx="20391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61B26"/>
                </a:solidFill>
                <a:latin typeface="Archivo"/>
              </a:rPr>
              <a:t>Rahul pays for all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19856" y="3776471"/>
            <a:ext cx="2350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i="0">
                <a:solidFill>
                  <a:srgbClr val="5B6577"/>
                </a:solidFill>
                <a:latin typeface="Inter"/>
              </a:rPr>
              <a:t>₹2,140 on his card — free delivery only on his Gold.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19856" y="4306823"/>
            <a:ext cx="1078992" cy="237744"/>
          </a:xfrm>
          <a:prstGeom prst="roundRect">
            <a:avLst>
              <a:gd name="adj" fmla="val 45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19856" y="4306823"/>
            <a:ext cx="107899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SETTLEMENT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26864" y="4352543"/>
            <a:ext cx="1143000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26864" y="4352543"/>
            <a:ext cx="914400" cy="10058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79592" y="3337559"/>
            <a:ext cx="16459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62472" y="3337559"/>
            <a:ext cx="26060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172200" y="3447287"/>
            <a:ext cx="292608" cy="292608"/>
          </a:xfrm>
          <a:prstGeom prst="ellipse">
            <a:avLst/>
          </a:prstGeom>
          <a:solidFill>
            <a:srgbClr val="E23744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72200" y="3447287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7960" y="3456431"/>
            <a:ext cx="20391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61B26"/>
                </a:solidFill>
                <a:latin typeface="Archivo"/>
              </a:rPr>
              <a:t>The ₹80 chase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90488" y="3776471"/>
            <a:ext cx="2350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i="0">
                <a:solidFill>
                  <a:srgbClr val="5B6577"/>
                </a:solidFill>
                <a:latin typeface="Inter"/>
              </a:rPr>
              <a:t>Two pay, two “tomorrow,” one ghosts. Day 4: still down ₹430.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90488" y="4306823"/>
            <a:ext cx="1078992" cy="237744"/>
          </a:xfrm>
          <a:prstGeom prst="roundRect">
            <a:avLst>
              <a:gd name="adj" fmla="val 45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90488" y="4306823"/>
            <a:ext cx="107899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SETTLEMENT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97496" y="4352543"/>
            <a:ext cx="1143000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97496" y="4352543"/>
            <a:ext cx="1143000" cy="10058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50224" y="3337559"/>
            <a:ext cx="16459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833104" y="3337559"/>
            <a:ext cx="26060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42832" y="3447287"/>
            <a:ext cx="292608" cy="292608"/>
          </a:xfrm>
          <a:prstGeom prst="ellipse">
            <a:avLst/>
          </a:prstGeom>
          <a:solidFill>
            <a:srgbClr val="1A7A4A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42832" y="3447287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08592" y="3456431"/>
            <a:ext cx="20391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61B26"/>
                </a:solidFill>
                <a:latin typeface="Archivo"/>
              </a:rPr>
              <a:t>Whose biryani?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61120" y="3776471"/>
            <a:ext cx="2350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i="0">
                <a:solidFill>
                  <a:srgbClr val="5B6577"/>
                </a:solidFill>
                <a:latin typeface="Inter"/>
              </a:rPr>
              <a:t>One bag, no labels, five identical parcels at the door.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961120" y="4306823"/>
            <a:ext cx="1078992" cy="237744"/>
          </a:xfrm>
          <a:prstGeom prst="roundRect">
            <a:avLst>
              <a:gd name="adj" fmla="val 45000"/>
            </a:avLst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61120" y="4306823"/>
            <a:ext cx="107899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FULFILMENT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168128" y="4352543"/>
            <a:ext cx="1143000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168128" y="4352543"/>
            <a:ext cx="800100" cy="100584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40080" y="4773168"/>
            <a:ext cx="10908792" cy="91440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1248" y="4846320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30">
                <a:solidFill>
                  <a:srgbClr val="E23744"/>
                </a:solidFill>
                <a:latin typeface="Inter"/>
              </a:rPr>
              <a:t>THE REAL COST OF ONE ORDER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41248" y="5102352"/>
            <a:ext cx="345643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87552" y="5138928"/>
            <a:ext cx="3200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20">
                <a:solidFill>
                  <a:srgbClr val="CB202D"/>
                </a:solidFill>
                <a:latin typeface="Inter"/>
              </a:rPr>
              <a:t>EMOTIONAL  </a:t>
            </a:r>
            <a:r>
              <a:rPr sz="860" b="0" i="0">
                <a:solidFill>
                  <a:srgbClr val="5B6577"/>
                </a:solidFill>
                <a:latin typeface="Inter"/>
              </a:rPr>
              <a:t>The host becomes the group's unpaid project manager — and burns out.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425696" y="5102352"/>
            <a:ext cx="345643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0" y="5138928"/>
            <a:ext cx="3200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20">
                <a:solidFill>
                  <a:srgbClr val="E23744"/>
                </a:solidFill>
                <a:latin typeface="Inter"/>
              </a:rPr>
              <a:t>FINANCIAL  </a:t>
            </a:r>
            <a:r>
              <a:rPr sz="860" b="0" i="0">
                <a:solidFill>
                  <a:srgbClr val="5B6577"/>
                </a:solidFill>
                <a:latin typeface="Inter"/>
              </a:rPr>
              <a:t>The host is the group's bank: ₹430 still unpaid on day 4.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010144" y="5102352"/>
            <a:ext cx="345643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156448" y="5138928"/>
            <a:ext cx="3200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20">
                <a:solidFill>
                  <a:srgbClr val="C8362F"/>
                </a:solidFill>
                <a:latin typeface="Inter"/>
              </a:rPr>
              <a:t>BEHAVIOURAL  </a:t>
            </a:r>
            <a:r>
              <a:rPr sz="860" b="0" i="0">
                <a:solidFill>
                  <a:srgbClr val="5B6577"/>
                </a:solidFill>
                <a:latin typeface="Inter"/>
              </a:rPr>
              <a:t>So he quits the feature: “just pay me, I'll order” — back to square one.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40080" y="5870448"/>
            <a:ext cx="10908792" cy="530352"/>
          </a:xfrm>
          <a:prstGeom prst="roundRect">
            <a:avLst>
              <a:gd name="adj" fmla="val 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68680" y="5870448"/>
            <a:ext cx="104698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C9C4"/>
                </a:solidFill>
                <a:latin typeface="Inter"/>
              </a:rPr>
              <a:t>→  </a:t>
            </a:r>
            <a:r>
              <a:rPr sz="1200" b="1" i="0">
                <a:solidFill>
                  <a:srgbClr val="FFFFFF"/>
                </a:solidFill>
                <a:latin typeface="Inter"/>
              </a:rPr>
              <a:t>And Rahul has it easy — one room, one tap away. </a:t>
            </a:r>
            <a:r>
              <a:rPr sz="1200" b="1" i="0">
                <a:solidFill>
                  <a:srgbClr val="FFE09E"/>
                </a:solidFill>
                <a:latin typeface="Inter"/>
              </a:rPr>
              <a:t>Now scale this to offices, families and 30-person parties.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3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080" y="6620256"/>
            <a:ext cx="10058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40">
                <a:solidFill>
                  <a:srgbClr val="9AA2B0"/>
                </a:solidFill>
                <a:latin typeface="Inter"/>
              </a:rPr>
              <a:t>SOURCES  </a:t>
            </a:r>
            <a:r>
              <a:rPr sz="900">
                <a:solidFill>
                  <a:srgbClr val="2563A8"/>
                </a:solidFill>
                <a:latin typeface="Inter"/>
                <a:hlinkClick r:id="rId2"/>
              </a:rPr>
              <a:t>Inc42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3"/>
              </a:rPr>
              <a:t>Free Press Journal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4"/>
              </a:rPr>
              <a:t>MediaNama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72800" y="6620256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9AA2B0"/>
                </a:solidFill>
                <a:latin typeface="Inter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475488" cy="365760"/>
          </a:xfrm>
          <a:prstGeom prst="roundRect">
            <a:avLst>
              <a:gd name="adj" fmla="val 18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4754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chivo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57200"/>
            <a:ext cx="7680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140">
                <a:solidFill>
                  <a:srgbClr val="E23744"/>
                </a:solidFill>
                <a:latin typeface="Inter"/>
              </a:rPr>
              <a:t>PERSONAS · IT'S NOT JUST HOSTELS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57200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6577"/>
                </a:solidFill>
                <a:latin typeface="Archivo"/>
              </a:rPr>
              <a:t>ZOMATO </a:t>
            </a:r>
            <a:r>
              <a:rPr sz="1250" b="1" i="0">
                <a:solidFill>
                  <a:srgbClr val="E23744"/>
                </a:solidFill>
                <a:latin typeface="Archivo"/>
              </a:rPr>
              <a:t>GROUP ORDERING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9611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61B26"/>
                </a:solidFill>
                <a:latin typeface="Archivo"/>
              </a:rPr>
              <a:t>Same tax, </a:t>
            </a:r>
            <a:r>
              <a:rPr sz="2600" b="1" i="0">
                <a:solidFill>
                  <a:srgbClr val="E23744"/>
                </a:solidFill>
                <a:latin typeface="Archivo"/>
              </a:rPr>
              <a:t>every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577"/>
                </a:solidFill>
                <a:latin typeface="Inter"/>
              </a:rPr>
              <a:t>Six occasions, one coordination tax — and each group snaps at a different link in the chain. The pain is universal; only the breaking point moves.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38528"/>
            <a:ext cx="3511296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6384" y="2084832"/>
            <a:ext cx="475488" cy="475488"/>
          </a:xfrm>
          <a:prstGeom prst="ellipse">
            <a:avLst/>
          </a:prstGeom>
          <a:solidFill>
            <a:srgbClr val="E23744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08483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RP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84832"/>
            <a:ext cx="21396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chivo"/>
              </a:rPr>
              <a:t>Rahul &amp; PG crew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577"/>
                </a:solidFill>
                <a:latin typeface="Inter"/>
              </a:rPr>
              <a:t>3–8 students · late-night · UPI-native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0128" y="2084832"/>
            <a:ext cx="713232" cy="256032"/>
          </a:xfrm>
          <a:prstGeom prst="roundRect">
            <a:avLst>
              <a:gd name="adj" fmla="val 4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84832"/>
            <a:ext cx="7132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ANCHOR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2670048"/>
            <a:ext cx="318211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CB202D"/>
                </a:solidFill>
                <a:latin typeface="Inter"/>
              </a:rPr>
              <a:t>Host is the group's unpaid bank — the ₹80s never come 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" y="3209544"/>
            <a:ext cx="1097280" cy="237744"/>
          </a:xfrm>
          <a:prstGeom prst="roundRect">
            <a:avLst>
              <a:gd name="adj" fmla="val 45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3209544"/>
            <a:ext cx="10972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SETTLEMENT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75104" y="3172968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 spc="10">
                <a:solidFill>
                  <a:srgbClr val="9AA2B0"/>
                </a:solidFill>
                <a:latin typeface="Inter"/>
              </a:rPr>
              <a:t>COORD. TAX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75104" y="3337560"/>
            <a:ext cx="2029967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75104" y="3337560"/>
            <a:ext cx="2029967" cy="10058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38828" y="1938528"/>
            <a:ext cx="3511296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85132" y="2084832"/>
            <a:ext cx="475488" cy="475488"/>
          </a:xfrm>
          <a:prstGeom prst="ellipse">
            <a:avLst/>
          </a:prstGeom>
          <a:solidFill>
            <a:srgbClr val="C98A12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5132" y="208483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0348" y="2084832"/>
            <a:ext cx="21396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chivo"/>
              </a:rPr>
              <a:t>Office / WFH squad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577"/>
                </a:solidFill>
                <a:latin typeface="Inter"/>
              </a:rPr>
              <a:t>co-located + remote · fixed lunch window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3420" y="2670048"/>
            <a:ext cx="318211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CB202D"/>
                </a:solidFill>
                <a:latin typeface="Inter"/>
              </a:rPr>
              <a:t>1 PM and half the team still hasn't picked — it fires late, or not at all.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03420" y="3209544"/>
            <a:ext cx="1097280" cy="237744"/>
          </a:xfrm>
          <a:prstGeom prst="roundRect">
            <a:avLst>
              <a:gd name="adj" fmla="val 45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3420" y="3209544"/>
            <a:ext cx="10972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TIMING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73852" y="3172968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 spc="10">
                <a:solidFill>
                  <a:srgbClr val="9AA2B0"/>
                </a:solidFill>
                <a:latin typeface="Inter"/>
              </a:rPr>
              <a:t>COORD. TAX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73852" y="3337560"/>
            <a:ext cx="2029967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73852" y="3337560"/>
            <a:ext cx="1623974" cy="100584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37575" y="1938528"/>
            <a:ext cx="3511296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183879" y="2084832"/>
            <a:ext cx="475488" cy="475488"/>
          </a:xfrm>
          <a:prstGeom prst="ellipse">
            <a:avLst/>
          </a:prstGeom>
          <a:solidFill>
            <a:srgbClr val="2563A8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208483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PH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69096" y="2084832"/>
            <a:ext cx="21396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chivo"/>
              </a:rPr>
              <a:t>Party host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577"/>
                </a:solidFill>
                <a:latin typeface="Inter"/>
              </a:rPr>
              <a:t>20–30 guests · one giant cart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2167" y="2670048"/>
            <a:ext cx="318211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CB202D"/>
                </a:solidFill>
                <a:latin typeface="Inter"/>
              </a:rPr>
              <a:t>One person fielding 30 orders in a WhatsApp avalanche (the 72-item cart).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02167" y="3209544"/>
            <a:ext cx="1097280" cy="237744"/>
          </a:xfrm>
          <a:prstGeom prst="roundRect">
            <a:avLst>
              <a:gd name="adj" fmla="val 45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02167" y="3209544"/>
            <a:ext cx="10972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COLLECTION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3172968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 spc="10">
                <a:solidFill>
                  <a:srgbClr val="9AA2B0"/>
                </a:solidFill>
                <a:latin typeface="Inter"/>
              </a:rPr>
              <a:t>COORD. TAX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72600" y="3337560"/>
            <a:ext cx="2029967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72600" y="3337560"/>
            <a:ext cx="1786371" cy="100584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0080" y="3739896"/>
            <a:ext cx="3511296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86384" y="3886200"/>
            <a:ext cx="475488" cy="475488"/>
          </a:xfrm>
          <a:prstGeom prst="ellipse">
            <a:avLst/>
          </a:prstGeom>
          <a:solidFill>
            <a:srgbClr val="2563A8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3886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chivo"/>
              </a:rPr>
              <a:t>Fam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3886200"/>
            <a:ext cx="21396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chivo"/>
              </a:rPr>
              <a:t>Family · multi-gen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577"/>
                </a:solidFill>
                <a:latin typeface="Inter"/>
              </a:rPr>
              <a:t>mixed app-literacy · one address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1" y="4471416"/>
            <a:ext cx="318211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CB202D"/>
                </a:solidFill>
                <a:latin typeface="Inter"/>
              </a:rPr>
              <a:t>Mom dictates her order, someone re-types it; only the host has Gold.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1" y="5010912"/>
            <a:ext cx="1097280" cy="237744"/>
          </a:xfrm>
          <a:prstGeom prst="roundRect">
            <a:avLst>
              <a:gd name="adj" fmla="val 45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1" y="5010912"/>
            <a:ext cx="10972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COLLECTION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75104" y="497433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 spc="10">
                <a:solidFill>
                  <a:srgbClr val="9AA2B0"/>
                </a:solidFill>
                <a:latin typeface="Inter"/>
              </a:rPr>
              <a:t>COORD. TAX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75104" y="5138928"/>
            <a:ext cx="2029967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975104" y="5138928"/>
            <a:ext cx="1258580" cy="100584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338828" y="3739896"/>
            <a:ext cx="3511296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485132" y="3886200"/>
            <a:ext cx="475488" cy="475488"/>
          </a:xfrm>
          <a:prstGeom prst="ellipse">
            <a:avLst/>
          </a:prstGeom>
          <a:solidFill>
            <a:srgbClr val="E23744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85132" y="3886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T3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70348" y="3886200"/>
            <a:ext cx="21396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chivo"/>
              </a:rPr>
              <a:t>Tier-2/3 friends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577"/>
                </a:solidFill>
                <a:latin typeface="Inter"/>
              </a:rPr>
              <a:t>intensely price-sensitive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03420" y="4471416"/>
            <a:ext cx="318211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CB202D"/>
                </a:solidFill>
                <a:latin typeface="Inter"/>
              </a:rPr>
              <a:t>Every rupee counts — splitting fees by hand kills the whole vibe.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03420" y="5010912"/>
            <a:ext cx="1097280" cy="237744"/>
          </a:xfrm>
          <a:prstGeom prst="roundRect">
            <a:avLst>
              <a:gd name="adj" fmla="val 45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03420" y="5010912"/>
            <a:ext cx="10972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SETTLEMENT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73852" y="497433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 spc="10">
                <a:solidFill>
                  <a:srgbClr val="9AA2B0"/>
                </a:solidFill>
                <a:latin typeface="Inter"/>
              </a:rPr>
              <a:t>COORD. TAX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73852" y="5138928"/>
            <a:ext cx="2029967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673852" y="5138928"/>
            <a:ext cx="1826971" cy="10058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037575" y="3739896"/>
            <a:ext cx="3511296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83879" y="3886200"/>
            <a:ext cx="475488" cy="475488"/>
          </a:xfrm>
          <a:prstGeom prst="ellipse">
            <a:avLst/>
          </a:prstGeom>
          <a:solidFill>
            <a:srgbClr val="C98A12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83879" y="3886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GG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69096" y="3886200"/>
            <a:ext cx="21396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chivo"/>
              </a:rPr>
              <a:t>Gaming / study crew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577"/>
                </a:solidFill>
                <a:latin typeface="Inter"/>
              </a:rPr>
              <a:t>mid-session · same room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02167" y="4471416"/>
            <a:ext cx="318211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CB202D"/>
                </a:solidFill>
                <a:latin typeface="Inter"/>
              </a:rPr>
              <a:t>Nobody wants to pause to coordinate, so the order just never happens.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202167" y="5010912"/>
            <a:ext cx="1097280" cy="237744"/>
          </a:xfrm>
          <a:prstGeom prst="roundRect">
            <a:avLst>
              <a:gd name="adj" fmla="val 45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02167" y="5010912"/>
            <a:ext cx="10972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TIMING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72600" y="497433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 spc="10">
                <a:solidFill>
                  <a:srgbClr val="9AA2B0"/>
                </a:solidFill>
                <a:latin typeface="Inter"/>
              </a:rPr>
              <a:t>COORD. TAX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372600" y="5138928"/>
            <a:ext cx="2029967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372600" y="5138928"/>
            <a:ext cx="1461576" cy="100584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40080" y="5486400"/>
            <a:ext cx="10908792" cy="292608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 w="12700">
            <a:solidFill>
              <a:srgbClr val="F6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080" y="5486400"/>
            <a:ext cx="10908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B202D"/>
                </a:solidFill>
                <a:latin typeface="Archivo"/>
              </a:rPr>
              <a:t>6 occasions   ·   18 failure points   ·   </a:t>
            </a:r>
            <a:r>
              <a:rPr sz="1100" b="1" i="0">
                <a:solidFill>
                  <a:srgbClr val="161B26"/>
                </a:solidFill>
                <a:latin typeface="Inter"/>
              </a:rPr>
              <a:t>0 platforms that remove the tax — every group still does the hard part by hand.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0080" y="5870448"/>
            <a:ext cx="10908792" cy="530352"/>
          </a:xfrm>
          <a:prstGeom prst="roundRect">
            <a:avLst>
              <a:gd name="adj" fmla="val 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68680" y="5870448"/>
            <a:ext cx="104698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C9C4"/>
                </a:solidFill>
                <a:latin typeface="Inter"/>
              </a:rPr>
              <a:t>→  </a:t>
            </a:r>
            <a:r>
              <a:rPr sz="1200" b="1" i="0">
                <a:solidFill>
                  <a:srgbClr val="FFFFFF"/>
                </a:solidFill>
                <a:latin typeface="Inter"/>
              </a:rPr>
              <a:t>The pain is real, universal, and unsolved. </a:t>
            </a:r>
            <a:r>
              <a:rPr sz="1200" b="1" i="0">
                <a:solidFill>
                  <a:srgbClr val="FFE09E"/>
                </a:solidFill>
                <a:latin typeface="Inter"/>
              </a:rPr>
              <a:t>So how has the rest of the world cracked it?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3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6620256"/>
            <a:ext cx="10058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40">
                <a:solidFill>
                  <a:srgbClr val="9AA2B0"/>
                </a:solidFill>
                <a:latin typeface="Inter"/>
              </a:rPr>
              <a:t>SOURCES  </a:t>
            </a:r>
            <a:r>
              <a:rPr sz="900">
                <a:solidFill>
                  <a:srgbClr val="2563A8"/>
                </a:solidFill>
                <a:latin typeface="Inter"/>
                <a:hlinkClick r:id="rId2"/>
              </a:rPr>
              <a:t>Inc42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3"/>
              </a:rPr>
              <a:t>Free Press Journal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4"/>
              </a:rPr>
              <a:t>MediaNama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72800" y="6620256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9AA2B0"/>
                </a:solidFill>
                <a:latin typeface="Inter"/>
              </a:rPr>
              <a:t>06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